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695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 snapToGrid="0" snapToObjects="1">
      <p:cViewPr varScale="1">
        <p:scale>
          <a:sx n="56" d="100"/>
          <a:sy n="56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754" y="3886199"/>
            <a:ext cx="8534186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942606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762617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224501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514287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043663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879951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040855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4207307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468955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037011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251144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457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3124200" y="6356349"/>
            <a:ext cx="2895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6553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619726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10/16/2026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23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32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8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0" charset="0"/>
        <a:buChar char="»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F2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/>
          <p:cNvSpPr>
            <a:spLocks/>
          </p:cNvSpPr>
          <p:nvPr/>
        </p:nvSpPr>
        <p:spPr>
          <a:xfrm rot="0">
            <a:off x="0" y="0"/>
            <a:ext cx="12191694" cy="164592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" name="矩形"/>
          <p:cNvSpPr>
            <a:spLocks/>
          </p:cNvSpPr>
          <p:nvPr/>
        </p:nvSpPr>
        <p:spPr>
          <a:xfrm rot="0">
            <a:off x="8412480" y="0"/>
            <a:ext cx="3779214" cy="6858000"/>
          </a:xfrm>
          <a:prstGeom prst="rect"/>
          <a:solidFill>
            <a:srgbClr val="133E53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" name="椭圆"/>
          <p:cNvSpPr>
            <a:spLocks/>
          </p:cNvSpPr>
          <p:nvPr/>
        </p:nvSpPr>
        <p:spPr>
          <a:xfrm rot="0">
            <a:off x="9326880" y="914400"/>
            <a:ext cx="1188720" cy="1188720"/>
          </a:xfrm>
          <a:prstGeom prst="ellipse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" name="椭圆"/>
          <p:cNvSpPr>
            <a:spLocks/>
          </p:cNvSpPr>
          <p:nvPr/>
        </p:nvSpPr>
        <p:spPr>
          <a:xfrm rot="0">
            <a:off x="10332720" y="1828800"/>
            <a:ext cx="502919" cy="502919"/>
          </a:xfrm>
          <a:prstGeom prst="ellipse"/>
          <a:solidFill>
            <a:srgbClr val="DBF5F3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" name="椭圆"/>
          <p:cNvSpPr>
            <a:spLocks/>
          </p:cNvSpPr>
          <p:nvPr/>
        </p:nvSpPr>
        <p:spPr>
          <a:xfrm rot="0">
            <a:off x="8778240" y="2423160"/>
            <a:ext cx="411480" cy="411480"/>
          </a:xfrm>
          <a:prstGeom prst="ellipse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" name="椭圆"/>
          <p:cNvSpPr>
            <a:spLocks/>
          </p:cNvSpPr>
          <p:nvPr/>
        </p:nvSpPr>
        <p:spPr>
          <a:xfrm rot="0">
            <a:off x="10241281" y="3657600"/>
            <a:ext cx="1645919" cy="1645919"/>
          </a:xfrm>
          <a:prstGeom prst="ellipse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" name="椭圆"/>
          <p:cNvSpPr>
            <a:spLocks/>
          </p:cNvSpPr>
          <p:nvPr/>
        </p:nvSpPr>
        <p:spPr>
          <a:xfrm rot="0">
            <a:off x="9144000" y="5029200"/>
            <a:ext cx="640080" cy="640080"/>
          </a:xfrm>
          <a:prstGeom prst="ellipse"/>
          <a:solidFill>
            <a:srgbClr val="DBF5F3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" name="矩形"/>
          <p:cNvSpPr>
            <a:spLocks/>
          </p:cNvSpPr>
          <p:nvPr/>
        </p:nvSpPr>
        <p:spPr>
          <a:xfrm rot="0">
            <a:off x="731520" y="731520"/>
            <a:ext cx="4571999" cy="3002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DBF5F3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JAVA PROJECT  •  2026</a:t>
            </a:r>
            <a:endParaRPr lang="zh-CN" altLang="en-US" sz="1300" b="0" i="0" u="none" strike="noStrike" kern="1200" cap="none" spc="0" baseline="0">
              <a:solidFill>
                <a:srgbClr val="DBF5F3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8" name="矩形"/>
          <p:cNvSpPr>
            <a:spLocks/>
          </p:cNvSpPr>
          <p:nvPr/>
        </p:nvSpPr>
        <p:spPr>
          <a:xfrm rot="0">
            <a:off x="731520" y="1417320"/>
            <a:ext cx="7772400" cy="18305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34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Household Water</a:t>
            </a:r>
            <a:endParaRPr lang="en-US" altLang="zh-CN" sz="34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34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Usage &amp; Billing</a:t>
            </a:r>
            <a:endParaRPr lang="en-US" altLang="zh-CN" sz="34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34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Monitor</a:t>
            </a:r>
            <a:endParaRPr lang="zh-CN" altLang="en-US" sz="34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" name="矩形"/>
          <p:cNvSpPr>
            <a:spLocks/>
          </p:cNvSpPr>
          <p:nvPr/>
        </p:nvSpPr>
        <p:spPr>
          <a:xfrm rot="0">
            <a:off x="749808" y="3977639"/>
            <a:ext cx="868679" cy="64007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" name="矩形"/>
          <p:cNvSpPr>
            <a:spLocks/>
          </p:cNvSpPr>
          <p:nvPr/>
        </p:nvSpPr>
        <p:spPr>
          <a:xfrm rot="0">
            <a:off x="731520" y="4224528"/>
            <a:ext cx="6949440" cy="7320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DCE9F1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 simple system to record water consumption</a:t>
            </a:r>
            <a:endParaRPr lang="en-US" altLang="zh-CN" sz="1800" b="0" i="0" u="none" strike="noStrike" kern="1200" cap="none" spc="0" baseline="0">
              <a:solidFill>
                <a:srgbClr val="DCE9F1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DCE9F1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and calculate household bills.</a:t>
            </a:r>
            <a:endParaRPr lang="zh-CN" altLang="en-US" sz="1800" b="0" i="0" u="none" strike="noStrike" kern="1200" cap="none" spc="0" baseline="0">
              <a:solidFill>
                <a:srgbClr val="DCE9F1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" name="圆角矩形"/>
          <p:cNvSpPr>
            <a:spLocks/>
          </p:cNvSpPr>
          <p:nvPr/>
        </p:nvSpPr>
        <p:spPr>
          <a:xfrm rot="0">
            <a:off x="731520" y="5257800"/>
            <a:ext cx="6949440" cy="868680"/>
          </a:xfrm>
          <a:prstGeom prst="roundRect">
            <a:avLst>
              <a:gd name="adj" fmla="val 12000"/>
            </a:avLst>
          </a:prstGeom>
          <a:solidFill>
            <a:srgbClr val="1C3D5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2" name="矩形"/>
          <p:cNvSpPr>
            <a:spLocks/>
          </p:cNvSpPr>
          <p:nvPr/>
        </p:nvSpPr>
        <p:spPr>
          <a:xfrm rot="0">
            <a:off x="932688" y="5404104"/>
            <a:ext cx="6583680" cy="6177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K Jaswanth  •  2620080096</a:t>
            </a:r>
            <a:endParaRPr lang="en-US" altLang="zh-CN" sz="14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G Sai Harsha Vardhan  •  2620080117</a:t>
            </a:r>
            <a:endParaRPr lang="zh-CN" altLang="en-US" sz="14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3" name="矩形"/>
          <p:cNvSpPr>
            <a:spLocks/>
          </p:cNvSpPr>
          <p:nvPr/>
        </p:nvSpPr>
        <p:spPr>
          <a:xfrm rot="0">
            <a:off x="9144000" y="6172200"/>
            <a:ext cx="22860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DBF5F3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TEAM PROJECT</a:t>
            </a:r>
            <a:endParaRPr lang="zh-CN" altLang="en-US" sz="1100" b="0" i="0" u="none" strike="noStrike" kern="1200" cap="none" spc="0" baseline="0">
              <a:solidFill>
                <a:srgbClr val="DBF5F3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096186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"/>
          <p:cNvSpPr>
            <a:spLocks/>
          </p:cNvSpPr>
          <p:nvPr/>
        </p:nvSpPr>
        <p:spPr>
          <a:xfrm rot="0">
            <a:off x="0" y="0"/>
            <a:ext cx="12191694" cy="128015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5" name="矩形"/>
          <p:cNvSpPr>
            <a:spLocks/>
          </p:cNvSpPr>
          <p:nvPr/>
        </p:nvSpPr>
        <p:spPr>
          <a:xfrm rot="0">
            <a:off x="0" y="6711696"/>
            <a:ext cx="12191694" cy="146303"/>
          </a:xfrm>
          <a:prstGeom prst="rect"/>
          <a:solidFill>
            <a:srgbClr val="0F2B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6" name="矩形"/>
          <p:cNvSpPr>
            <a:spLocks/>
          </p:cNvSpPr>
          <p:nvPr/>
        </p:nvSpPr>
        <p:spPr>
          <a:xfrm rot="0">
            <a:off x="502919" y="320040"/>
            <a:ext cx="10789920" cy="5193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Abstract</a:t>
            </a:r>
            <a:endParaRPr lang="zh-CN" altLang="en-US" sz="27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7" name="矩形"/>
          <p:cNvSpPr>
            <a:spLocks/>
          </p:cNvSpPr>
          <p:nvPr/>
        </p:nvSpPr>
        <p:spPr>
          <a:xfrm rot="0">
            <a:off x="530352" y="932688"/>
            <a:ext cx="685800" cy="50292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" name="圆角矩形"/>
          <p:cNvSpPr>
            <a:spLocks/>
          </p:cNvSpPr>
          <p:nvPr/>
        </p:nvSpPr>
        <p:spPr>
          <a:xfrm rot="0">
            <a:off x="10332720" y="347472"/>
            <a:ext cx="1325880" cy="320040"/>
          </a:xfrm>
          <a:prstGeom prst="roundRect">
            <a:avLst>
              <a:gd name="adj" fmla="val 12000"/>
            </a:avLst>
          </a:prstGeom>
          <a:solidFill>
            <a:srgbClr val="DBF5F3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9" name="矩形"/>
          <p:cNvSpPr>
            <a:spLocks/>
          </p:cNvSpPr>
          <p:nvPr/>
        </p:nvSpPr>
        <p:spPr>
          <a:xfrm rot="0">
            <a:off x="10369296" y="408622"/>
            <a:ext cx="1261872" cy="1428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OVERVIEW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0" name="矩形"/>
          <p:cNvSpPr>
            <a:spLocks/>
          </p:cNvSpPr>
          <p:nvPr/>
        </p:nvSpPr>
        <p:spPr>
          <a:xfrm rot="0">
            <a:off x="548640" y="6419087"/>
            <a:ext cx="6400800" cy="1143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677A8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HOUSEHOLD WATER USAGE  •  JAVA PROJECT</a:t>
            </a:r>
            <a:endParaRPr lang="zh-CN" altLang="en-US" sz="800" b="0" i="0" u="none" strike="noStrike" kern="1200" cap="none" spc="0" baseline="0">
              <a:solidFill>
                <a:srgbClr val="677A8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1" name="矩形"/>
          <p:cNvSpPr>
            <a:spLocks/>
          </p:cNvSpPr>
          <p:nvPr/>
        </p:nvSpPr>
        <p:spPr>
          <a:xfrm rot="0">
            <a:off x="11201399" y="6391656"/>
            <a:ext cx="411480" cy="1428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02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2" name="圆角矩形"/>
          <p:cNvSpPr>
            <a:spLocks/>
          </p:cNvSpPr>
          <p:nvPr/>
        </p:nvSpPr>
        <p:spPr>
          <a:xfrm rot="0">
            <a:off x="594360" y="1234440"/>
            <a:ext cx="5349239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3" name="矩形"/>
          <p:cNvSpPr>
            <a:spLocks/>
          </p:cNvSpPr>
          <p:nvPr/>
        </p:nvSpPr>
        <p:spPr>
          <a:xfrm rot="0">
            <a:off x="594360" y="1234440"/>
            <a:ext cx="82296" cy="1965960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4" name="矩形"/>
          <p:cNvSpPr>
            <a:spLocks/>
          </p:cNvSpPr>
          <p:nvPr/>
        </p:nvSpPr>
        <p:spPr>
          <a:xfrm rot="0">
            <a:off x="804672" y="1389888"/>
            <a:ext cx="4965192" cy="3478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Project purpose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5" name="矩形"/>
          <p:cNvSpPr>
            <a:spLocks/>
          </p:cNvSpPr>
          <p:nvPr/>
        </p:nvSpPr>
        <p:spPr>
          <a:xfrm rot="0">
            <a:off x="804672" y="1801368"/>
            <a:ext cx="4965192" cy="8241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 Java application to record household water consumption and calculate bills. It replaces manual calculations with a simple, consistent system.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6" name="圆角矩形"/>
          <p:cNvSpPr>
            <a:spLocks/>
          </p:cNvSpPr>
          <p:nvPr/>
        </p:nvSpPr>
        <p:spPr>
          <a:xfrm rot="0">
            <a:off x="6172200" y="1234440"/>
            <a:ext cx="5394959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7" name="矩形"/>
          <p:cNvSpPr>
            <a:spLocks/>
          </p:cNvSpPr>
          <p:nvPr/>
        </p:nvSpPr>
        <p:spPr>
          <a:xfrm rot="0">
            <a:off x="6172200" y="1234440"/>
            <a:ext cx="82296" cy="1965960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8" name="矩形"/>
          <p:cNvSpPr>
            <a:spLocks/>
          </p:cNvSpPr>
          <p:nvPr/>
        </p:nvSpPr>
        <p:spPr>
          <a:xfrm rot="0">
            <a:off x="6382512" y="1389888"/>
            <a:ext cx="5010912" cy="3478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Core features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9" name="矩形"/>
          <p:cNvSpPr>
            <a:spLocks/>
          </p:cNvSpPr>
          <p:nvPr/>
        </p:nvSpPr>
        <p:spPr>
          <a:xfrm rot="0">
            <a:off x="6382512" y="1801368"/>
            <a:ext cx="5010912" cy="10019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Enter meter readings</a:t>
            </a:r>
            <a:endParaRPr lang="en-US" altLang="zh-CN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Calculate units used and estimated bills</a:t>
            </a:r>
            <a:endParaRPr lang="en-US" altLang="zh-CN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View monthly history and reports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0" name="圆角矩形"/>
          <p:cNvSpPr>
            <a:spLocks/>
          </p:cNvSpPr>
          <p:nvPr/>
        </p:nvSpPr>
        <p:spPr>
          <a:xfrm rot="0">
            <a:off x="594360" y="3474720"/>
            <a:ext cx="5349239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1" name="矩形"/>
          <p:cNvSpPr>
            <a:spLocks/>
          </p:cNvSpPr>
          <p:nvPr/>
        </p:nvSpPr>
        <p:spPr>
          <a:xfrm rot="0">
            <a:off x="594360" y="3474720"/>
            <a:ext cx="82296" cy="2148840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2" name="矩形"/>
          <p:cNvSpPr>
            <a:spLocks/>
          </p:cNvSpPr>
          <p:nvPr/>
        </p:nvSpPr>
        <p:spPr>
          <a:xfrm rot="0">
            <a:off x="804672" y="3630167"/>
            <a:ext cx="4965192" cy="3478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Design approach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3" name="矩形"/>
          <p:cNvSpPr>
            <a:spLocks/>
          </p:cNvSpPr>
          <p:nvPr/>
        </p:nvSpPr>
        <p:spPr>
          <a:xfrm rot="0">
            <a:off x="804672" y="4041648"/>
            <a:ext cx="4965192" cy="5859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Object-oriented classes, input validation, exception handling and CSV file storage.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4" name="圆角矩形"/>
          <p:cNvSpPr>
            <a:spLocks/>
          </p:cNvSpPr>
          <p:nvPr/>
        </p:nvSpPr>
        <p:spPr>
          <a:xfrm rot="0">
            <a:off x="6172200" y="3474720"/>
            <a:ext cx="5394959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5" name="矩形"/>
          <p:cNvSpPr>
            <a:spLocks/>
          </p:cNvSpPr>
          <p:nvPr/>
        </p:nvSpPr>
        <p:spPr>
          <a:xfrm rot="0">
            <a:off x="6172200" y="3474720"/>
            <a:ext cx="82296" cy="2148840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6" name="矩形"/>
          <p:cNvSpPr>
            <a:spLocks/>
          </p:cNvSpPr>
          <p:nvPr/>
        </p:nvSpPr>
        <p:spPr>
          <a:xfrm rot="0">
            <a:off x="6382512" y="3630167"/>
            <a:ext cx="5010912" cy="3478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Techniques used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7" name="矩形"/>
          <p:cNvSpPr>
            <a:spLocks/>
          </p:cNvSpPr>
          <p:nvPr/>
        </p:nvSpPr>
        <p:spPr>
          <a:xfrm rot="0">
            <a:off x="6382512" y="4041648"/>
            <a:ext cx="5010912" cy="5859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Arrays, collections and Streams summarize usage and help compare monthly bills.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291338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"/>
          <p:cNvSpPr>
            <a:spLocks/>
          </p:cNvSpPr>
          <p:nvPr/>
        </p:nvSpPr>
        <p:spPr>
          <a:xfrm rot="0">
            <a:off x="0" y="0"/>
            <a:ext cx="12191694" cy="128015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9" name="矩形"/>
          <p:cNvSpPr>
            <a:spLocks/>
          </p:cNvSpPr>
          <p:nvPr/>
        </p:nvSpPr>
        <p:spPr>
          <a:xfrm rot="0">
            <a:off x="0" y="6711696"/>
            <a:ext cx="12191694" cy="146303"/>
          </a:xfrm>
          <a:prstGeom prst="rect"/>
          <a:solidFill>
            <a:srgbClr val="0F2B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0" name="矩形"/>
          <p:cNvSpPr>
            <a:spLocks/>
          </p:cNvSpPr>
          <p:nvPr/>
        </p:nvSpPr>
        <p:spPr>
          <a:xfrm rot="0">
            <a:off x="502919" y="320040"/>
            <a:ext cx="10789920" cy="5193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Understanding the Problem Statement</a:t>
            </a:r>
            <a:endParaRPr lang="zh-CN" altLang="en-US" sz="27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1" name="矩形"/>
          <p:cNvSpPr>
            <a:spLocks/>
          </p:cNvSpPr>
          <p:nvPr/>
        </p:nvSpPr>
        <p:spPr>
          <a:xfrm rot="0">
            <a:off x="530352" y="932688"/>
            <a:ext cx="685800" cy="50292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2" name="圆角矩形"/>
          <p:cNvSpPr>
            <a:spLocks/>
          </p:cNvSpPr>
          <p:nvPr/>
        </p:nvSpPr>
        <p:spPr>
          <a:xfrm rot="0">
            <a:off x="10332720" y="347472"/>
            <a:ext cx="1325880" cy="320040"/>
          </a:xfrm>
          <a:prstGeom prst="roundRect">
            <a:avLst>
              <a:gd name="adj" fmla="val 12000"/>
            </a:avLst>
          </a:prstGeom>
          <a:solidFill>
            <a:srgbClr val="DBF5F3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3" name="矩形"/>
          <p:cNvSpPr>
            <a:spLocks/>
          </p:cNvSpPr>
          <p:nvPr/>
        </p:nvSpPr>
        <p:spPr>
          <a:xfrm rot="0">
            <a:off x="10369296" y="408622"/>
            <a:ext cx="1261872" cy="1428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PROBLEM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4" name="矩形"/>
          <p:cNvSpPr>
            <a:spLocks/>
          </p:cNvSpPr>
          <p:nvPr/>
        </p:nvSpPr>
        <p:spPr>
          <a:xfrm rot="0">
            <a:off x="548640" y="6419087"/>
            <a:ext cx="6400800" cy="1143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677A8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HOUSEHOLD WATER USAGE  •  JAVA PROJECT</a:t>
            </a:r>
            <a:endParaRPr lang="zh-CN" altLang="en-US" sz="800" b="0" i="0" u="none" strike="noStrike" kern="1200" cap="none" spc="0" baseline="0">
              <a:solidFill>
                <a:srgbClr val="677A8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5" name="矩形"/>
          <p:cNvSpPr>
            <a:spLocks/>
          </p:cNvSpPr>
          <p:nvPr/>
        </p:nvSpPr>
        <p:spPr>
          <a:xfrm rot="0">
            <a:off x="11201399" y="6391656"/>
            <a:ext cx="411480" cy="1428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03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6" name="圆角矩形"/>
          <p:cNvSpPr>
            <a:spLocks/>
          </p:cNvSpPr>
          <p:nvPr/>
        </p:nvSpPr>
        <p:spPr>
          <a:xfrm rot="0">
            <a:off x="594360" y="1234440"/>
            <a:ext cx="53949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7" name="矩形"/>
          <p:cNvSpPr>
            <a:spLocks/>
          </p:cNvSpPr>
          <p:nvPr/>
        </p:nvSpPr>
        <p:spPr>
          <a:xfrm rot="0">
            <a:off x="594360" y="1234440"/>
            <a:ext cx="82296" cy="1371600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8" name="矩形"/>
          <p:cNvSpPr>
            <a:spLocks/>
          </p:cNvSpPr>
          <p:nvPr/>
        </p:nvSpPr>
        <p:spPr>
          <a:xfrm rot="0">
            <a:off x="804672" y="1389888"/>
            <a:ext cx="5010912" cy="3478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Problem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9" name="矩形"/>
          <p:cNvSpPr>
            <a:spLocks/>
          </p:cNvSpPr>
          <p:nvPr/>
        </p:nvSpPr>
        <p:spPr>
          <a:xfrm rot="0">
            <a:off x="804672" y="1801368"/>
            <a:ext cx="5010912" cy="3478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Manual recording and calculations can lead to errors.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0" name="圆角矩形"/>
          <p:cNvSpPr>
            <a:spLocks/>
          </p:cNvSpPr>
          <p:nvPr/>
        </p:nvSpPr>
        <p:spPr>
          <a:xfrm rot="0">
            <a:off x="6172200" y="1234440"/>
            <a:ext cx="5394959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1" name="矩形"/>
          <p:cNvSpPr>
            <a:spLocks/>
          </p:cNvSpPr>
          <p:nvPr/>
        </p:nvSpPr>
        <p:spPr>
          <a:xfrm rot="0">
            <a:off x="6172200" y="1234440"/>
            <a:ext cx="82296" cy="1371600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2" name="矩形"/>
          <p:cNvSpPr>
            <a:spLocks/>
          </p:cNvSpPr>
          <p:nvPr/>
        </p:nvSpPr>
        <p:spPr>
          <a:xfrm rot="0">
            <a:off x="6382512" y="1389888"/>
            <a:ext cx="5010912" cy="3478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Need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3" name="矩形"/>
          <p:cNvSpPr>
            <a:spLocks/>
          </p:cNvSpPr>
          <p:nvPr/>
        </p:nvSpPr>
        <p:spPr>
          <a:xfrm rot="0">
            <a:off x="6382512" y="1801368"/>
            <a:ext cx="5010912" cy="5859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 reliable program to record readings, calculate consumption and estimate bills.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4" name="圆角矩形"/>
          <p:cNvSpPr>
            <a:spLocks/>
          </p:cNvSpPr>
          <p:nvPr/>
        </p:nvSpPr>
        <p:spPr>
          <a:xfrm rot="0">
            <a:off x="594360" y="2880360"/>
            <a:ext cx="53949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5" name="矩形"/>
          <p:cNvSpPr>
            <a:spLocks/>
          </p:cNvSpPr>
          <p:nvPr/>
        </p:nvSpPr>
        <p:spPr>
          <a:xfrm rot="0">
            <a:off x="594360" y="2880360"/>
            <a:ext cx="82296" cy="2331720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6" name="矩形"/>
          <p:cNvSpPr>
            <a:spLocks/>
          </p:cNvSpPr>
          <p:nvPr/>
        </p:nvSpPr>
        <p:spPr>
          <a:xfrm rot="0">
            <a:off x="804672" y="3035808"/>
            <a:ext cx="5010912" cy="3478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Inputs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7" name="矩形"/>
          <p:cNvSpPr>
            <a:spLocks/>
          </p:cNvSpPr>
          <p:nvPr/>
        </p:nvSpPr>
        <p:spPr>
          <a:xfrm rot="0">
            <a:off x="804672" y="3447288"/>
            <a:ext cx="5010912" cy="1328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Household ID</a:t>
            </a:r>
            <a:endParaRPr lang="en-US" altLang="zh-CN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Month</a:t>
            </a:r>
            <a:endParaRPr lang="en-US" altLang="zh-CN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Previous and current meter readings</a:t>
            </a:r>
            <a:endParaRPr lang="en-US" altLang="zh-CN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Rate per unit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8" name="圆角矩形"/>
          <p:cNvSpPr>
            <a:spLocks/>
          </p:cNvSpPr>
          <p:nvPr/>
        </p:nvSpPr>
        <p:spPr>
          <a:xfrm rot="0">
            <a:off x="6172200" y="2880360"/>
            <a:ext cx="5394959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9" name="矩形"/>
          <p:cNvSpPr>
            <a:spLocks/>
          </p:cNvSpPr>
          <p:nvPr/>
        </p:nvSpPr>
        <p:spPr>
          <a:xfrm rot="0">
            <a:off x="6172200" y="2880360"/>
            <a:ext cx="82296" cy="2331720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0" name="矩形"/>
          <p:cNvSpPr>
            <a:spLocks/>
          </p:cNvSpPr>
          <p:nvPr/>
        </p:nvSpPr>
        <p:spPr>
          <a:xfrm rot="0">
            <a:off x="6382512" y="3035808"/>
            <a:ext cx="5010912" cy="3478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Outputs &amp; challenges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1" name="矩形"/>
          <p:cNvSpPr>
            <a:spLocks/>
          </p:cNvSpPr>
          <p:nvPr/>
        </p:nvSpPr>
        <p:spPr>
          <a:xfrm rot="0">
            <a:off x="6382512" y="3447288"/>
            <a:ext cx="5010912" cy="13829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Outputs: units used, bill amount, monthly history and summary report.</a:t>
            </a:r>
            <a:endParaRPr lang="en-US" altLang="zh-CN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endParaRPr lang="en-US" altLang="zh-CN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Challenges: invalid readings, negative usage, missing records, rate changes and accurate calculations.</a:t>
            </a:r>
            <a:endParaRPr lang="zh-CN" altLang="en-US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660180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"/>
          <p:cNvSpPr>
            <a:spLocks/>
          </p:cNvSpPr>
          <p:nvPr/>
        </p:nvSpPr>
        <p:spPr>
          <a:xfrm rot="0">
            <a:off x="0" y="0"/>
            <a:ext cx="12191694" cy="128015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3" name="矩形"/>
          <p:cNvSpPr>
            <a:spLocks/>
          </p:cNvSpPr>
          <p:nvPr/>
        </p:nvSpPr>
        <p:spPr>
          <a:xfrm rot="0">
            <a:off x="0" y="6711696"/>
            <a:ext cx="12191694" cy="146303"/>
          </a:xfrm>
          <a:prstGeom prst="rect"/>
          <a:solidFill>
            <a:srgbClr val="0F2B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4" name="矩形"/>
          <p:cNvSpPr>
            <a:spLocks/>
          </p:cNvSpPr>
          <p:nvPr/>
        </p:nvSpPr>
        <p:spPr>
          <a:xfrm rot="0">
            <a:off x="502919" y="320040"/>
            <a:ext cx="10789920" cy="5193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 1: Problem to Program</a:t>
            </a:r>
            <a:endParaRPr lang="zh-CN" altLang="en-US" sz="27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5" name="矩形"/>
          <p:cNvSpPr>
            <a:spLocks/>
          </p:cNvSpPr>
          <p:nvPr/>
        </p:nvSpPr>
        <p:spPr>
          <a:xfrm rot="0">
            <a:off x="530352" y="932688"/>
            <a:ext cx="685800" cy="50292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6" name="圆角矩形"/>
          <p:cNvSpPr>
            <a:spLocks/>
          </p:cNvSpPr>
          <p:nvPr/>
        </p:nvSpPr>
        <p:spPr>
          <a:xfrm rot="0">
            <a:off x="10332720" y="347472"/>
            <a:ext cx="1325880" cy="320040"/>
          </a:xfrm>
          <a:prstGeom prst="roundRect">
            <a:avLst>
              <a:gd name="adj" fmla="val 12000"/>
            </a:avLst>
          </a:prstGeom>
          <a:solidFill>
            <a:srgbClr val="DBF5F3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7" name="矩形"/>
          <p:cNvSpPr>
            <a:spLocks/>
          </p:cNvSpPr>
          <p:nvPr/>
        </p:nvSpPr>
        <p:spPr>
          <a:xfrm rot="0">
            <a:off x="10369296" y="408622"/>
            <a:ext cx="1261872" cy="1428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MODULE 1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8" name="矩形"/>
          <p:cNvSpPr>
            <a:spLocks/>
          </p:cNvSpPr>
          <p:nvPr/>
        </p:nvSpPr>
        <p:spPr>
          <a:xfrm rot="0">
            <a:off x="548640" y="6419087"/>
            <a:ext cx="6400800" cy="1143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677A8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HOUSEHOLD WATER USAGE  •  JAVA PROJECT</a:t>
            </a:r>
            <a:endParaRPr lang="zh-CN" altLang="en-US" sz="800" b="0" i="0" u="none" strike="noStrike" kern="1200" cap="none" spc="0" baseline="0">
              <a:solidFill>
                <a:srgbClr val="677A8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9" name="矩形"/>
          <p:cNvSpPr>
            <a:spLocks/>
          </p:cNvSpPr>
          <p:nvPr/>
        </p:nvSpPr>
        <p:spPr>
          <a:xfrm rot="0">
            <a:off x="11201399" y="6391656"/>
            <a:ext cx="411480" cy="1428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04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0" name="圆角矩形"/>
          <p:cNvSpPr>
            <a:spLocks/>
          </p:cNvSpPr>
          <p:nvPr/>
        </p:nvSpPr>
        <p:spPr>
          <a:xfrm rot="0">
            <a:off x="594360" y="1234440"/>
            <a:ext cx="539496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1" name="矩形"/>
          <p:cNvSpPr>
            <a:spLocks/>
          </p:cNvSpPr>
          <p:nvPr/>
        </p:nvSpPr>
        <p:spPr>
          <a:xfrm rot="0">
            <a:off x="594360" y="1234440"/>
            <a:ext cx="82296" cy="1920240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2" name="矩形"/>
          <p:cNvSpPr>
            <a:spLocks/>
          </p:cNvSpPr>
          <p:nvPr/>
        </p:nvSpPr>
        <p:spPr>
          <a:xfrm rot="0">
            <a:off x="804672" y="1389888"/>
            <a:ext cx="5010912" cy="3478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Algorithm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3" name="矩形"/>
          <p:cNvSpPr>
            <a:spLocks/>
          </p:cNvSpPr>
          <p:nvPr/>
        </p:nvSpPr>
        <p:spPr>
          <a:xfrm rot="0">
            <a:off x="804672" y="1801368"/>
            <a:ext cx="5010912" cy="12527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1. Read household ID and meter readings</a:t>
            </a:r>
            <a:endParaRPr lang="en-US" altLang="zh-CN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2. Validate readings</a:t>
            </a:r>
            <a:endParaRPr lang="en-US" altLang="zh-CN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3. Calculate units used</a:t>
            </a:r>
            <a:endParaRPr lang="en-US" altLang="zh-CN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4. Apply rate and display bill</a:t>
            </a:r>
            <a:endParaRPr lang="zh-CN" altLang="en-US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4" name="圆角矩形"/>
          <p:cNvSpPr>
            <a:spLocks/>
          </p:cNvSpPr>
          <p:nvPr/>
        </p:nvSpPr>
        <p:spPr>
          <a:xfrm rot="0">
            <a:off x="6172200" y="1234440"/>
            <a:ext cx="5394959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5" name="矩形"/>
          <p:cNvSpPr>
            <a:spLocks/>
          </p:cNvSpPr>
          <p:nvPr/>
        </p:nvSpPr>
        <p:spPr>
          <a:xfrm rot="0">
            <a:off x="6172200" y="1234440"/>
            <a:ext cx="82296" cy="1920240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6" name="矩形"/>
          <p:cNvSpPr>
            <a:spLocks/>
          </p:cNvSpPr>
          <p:nvPr/>
        </p:nvSpPr>
        <p:spPr>
          <a:xfrm rot="0">
            <a:off x="6382512" y="1389888"/>
            <a:ext cx="5010912" cy="3478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Flow sequence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7" name="矩形"/>
          <p:cNvSpPr>
            <a:spLocks/>
          </p:cNvSpPr>
          <p:nvPr/>
        </p:nvSpPr>
        <p:spPr>
          <a:xfrm rot="0">
            <a:off x="6382512" y="1801368"/>
            <a:ext cx="5010912" cy="9447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START  →  INPUT READINGS  →  VALIDATE</a:t>
            </a:r>
            <a:endParaRPr lang="en-US" altLang="zh-CN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↓</a:t>
            </a:r>
            <a:endParaRPr lang="en-US" altLang="zh-CN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CALCULATE USAGE &amp; BILL  →  DISPLAY  →  END</a:t>
            </a:r>
            <a:endParaRPr lang="zh-CN" altLang="en-US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8" name="圆角矩形"/>
          <p:cNvSpPr>
            <a:spLocks/>
          </p:cNvSpPr>
          <p:nvPr/>
        </p:nvSpPr>
        <p:spPr>
          <a:xfrm rot="0">
            <a:off x="594360" y="3429000"/>
            <a:ext cx="53949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9" name="矩形"/>
          <p:cNvSpPr>
            <a:spLocks/>
          </p:cNvSpPr>
          <p:nvPr/>
        </p:nvSpPr>
        <p:spPr>
          <a:xfrm rot="0">
            <a:off x="594360" y="3429000"/>
            <a:ext cx="82296" cy="1965960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0" name="矩形"/>
          <p:cNvSpPr>
            <a:spLocks/>
          </p:cNvSpPr>
          <p:nvPr/>
        </p:nvSpPr>
        <p:spPr>
          <a:xfrm rot="0">
            <a:off x="804672" y="3584448"/>
            <a:ext cx="5010912" cy="3478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Data &amp; constants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1" name="矩形"/>
          <p:cNvSpPr>
            <a:spLocks/>
          </p:cNvSpPr>
          <p:nvPr/>
        </p:nvSpPr>
        <p:spPr>
          <a:xfrm rot="0">
            <a:off x="804672" y="3995928"/>
            <a:ext cx="5010912" cy="12527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int householdId</a:t>
            </a:r>
            <a:endParaRPr lang="en-US" altLang="zh-CN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double previousReading, currentReading</a:t>
            </a:r>
            <a:endParaRPr lang="en-US" altLang="zh-CN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String month</a:t>
            </a:r>
            <a:endParaRPr lang="en-US" altLang="zh-CN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final double RATE_PER_UNIT, FIXED_CHARGE</a:t>
            </a:r>
            <a:endParaRPr lang="zh-CN" altLang="en-US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2" name="圆角矩形"/>
          <p:cNvSpPr>
            <a:spLocks/>
          </p:cNvSpPr>
          <p:nvPr/>
        </p:nvSpPr>
        <p:spPr>
          <a:xfrm rot="0">
            <a:off x="6172200" y="3429000"/>
            <a:ext cx="5394959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3" name="矩形"/>
          <p:cNvSpPr>
            <a:spLocks/>
          </p:cNvSpPr>
          <p:nvPr/>
        </p:nvSpPr>
        <p:spPr>
          <a:xfrm rot="0">
            <a:off x="6172200" y="3429000"/>
            <a:ext cx="82296" cy="1965960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4" name="矩形"/>
          <p:cNvSpPr>
            <a:spLocks/>
          </p:cNvSpPr>
          <p:nvPr/>
        </p:nvSpPr>
        <p:spPr>
          <a:xfrm rot="0">
            <a:off x="6382512" y="3584448"/>
            <a:ext cx="5010912" cy="3478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Operators &amp; validation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5" name="矩形"/>
          <p:cNvSpPr>
            <a:spLocks/>
          </p:cNvSpPr>
          <p:nvPr/>
        </p:nvSpPr>
        <p:spPr>
          <a:xfrm rot="0">
            <a:off x="6382512" y="3995928"/>
            <a:ext cx="5010912" cy="7383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Arithmetic calculates usage and bill. Relational/logical operators validate data. Current reading must be ≥ previous reading. Use Scanner for input and printf for a formatted bill.</a:t>
            </a:r>
            <a:endParaRPr lang="zh-CN" altLang="en-US" sz="14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462587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"/>
          <p:cNvSpPr>
            <a:spLocks/>
          </p:cNvSpPr>
          <p:nvPr/>
        </p:nvSpPr>
        <p:spPr>
          <a:xfrm rot="0">
            <a:off x="0" y="0"/>
            <a:ext cx="12191694" cy="128015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7" name="矩形"/>
          <p:cNvSpPr>
            <a:spLocks/>
          </p:cNvSpPr>
          <p:nvPr/>
        </p:nvSpPr>
        <p:spPr>
          <a:xfrm rot="0">
            <a:off x="0" y="6711696"/>
            <a:ext cx="12191694" cy="146303"/>
          </a:xfrm>
          <a:prstGeom prst="rect"/>
          <a:solidFill>
            <a:srgbClr val="0F2B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8" name="矩形"/>
          <p:cNvSpPr>
            <a:spLocks/>
          </p:cNvSpPr>
          <p:nvPr/>
        </p:nvSpPr>
        <p:spPr>
          <a:xfrm rot="0">
            <a:off x="502919" y="320040"/>
            <a:ext cx="10789920" cy="5193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 2: Control Flow</a:t>
            </a:r>
            <a:endParaRPr lang="zh-CN" altLang="en-US" sz="27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9" name="矩形"/>
          <p:cNvSpPr>
            <a:spLocks/>
          </p:cNvSpPr>
          <p:nvPr/>
        </p:nvSpPr>
        <p:spPr>
          <a:xfrm rot="0">
            <a:off x="530352" y="932688"/>
            <a:ext cx="685800" cy="50292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0" name="圆角矩形"/>
          <p:cNvSpPr>
            <a:spLocks/>
          </p:cNvSpPr>
          <p:nvPr/>
        </p:nvSpPr>
        <p:spPr>
          <a:xfrm rot="0">
            <a:off x="10332720" y="347472"/>
            <a:ext cx="1325880" cy="320040"/>
          </a:xfrm>
          <a:prstGeom prst="roundRect">
            <a:avLst>
              <a:gd name="adj" fmla="val 12000"/>
            </a:avLst>
          </a:prstGeom>
          <a:solidFill>
            <a:srgbClr val="DBF5F3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1" name="矩形"/>
          <p:cNvSpPr>
            <a:spLocks/>
          </p:cNvSpPr>
          <p:nvPr/>
        </p:nvSpPr>
        <p:spPr>
          <a:xfrm rot="0">
            <a:off x="10369296" y="408622"/>
            <a:ext cx="1261872" cy="1428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MODULE 2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2" name="矩形"/>
          <p:cNvSpPr>
            <a:spLocks/>
          </p:cNvSpPr>
          <p:nvPr/>
        </p:nvSpPr>
        <p:spPr>
          <a:xfrm rot="0">
            <a:off x="548640" y="6419087"/>
            <a:ext cx="6400800" cy="1143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677A8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HOUSEHOLD WATER USAGE  •  JAVA PROJECT</a:t>
            </a:r>
            <a:endParaRPr lang="zh-CN" altLang="en-US" sz="800" b="0" i="0" u="none" strike="noStrike" kern="1200" cap="none" spc="0" baseline="0">
              <a:solidFill>
                <a:srgbClr val="677A8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3" name="矩形"/>
          <p:cNvSpPr>
            <a:spLocks/>
          </p:cNvSpPr>
          <p:nvPr/>
        </p:nvSpPr>
        <p:spPr>
          <a:xfrm rot="0">
            <a:off x="11201399" y="6391656"/>
            <a:ext cx="411480" cy="1428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05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4" name="圆角矩形"/>
          <p:cNvSpPr>
            <a:spLocks/>
          </p:cNvSpPr>
          <p:nvPr/>
        </p:nvSpPr>
        <p:spPr>
          <a:xfrm rot="0">
            <a:off x="594360" y="1234440"/>
            <a:ext cx="5394960" cy="187451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5" name="矩形"/>
          <p:cNvSpPr>
            <a:spLocks/>
          </p:cNvSpPr>
          <p:nvPr/>
        </p:nvSpPr>
        <p:spPr>
          <a:xfrm rot="0">
            <a:off x="594360" y="1234440"/>
            <a:ext cx="82296" cy="1874518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6" name="矩形"/>
          <p:cNvSpPr>
            <a:spLocks/>
          </p:cNvSpPr>
          <p:nvPr/>
        </p:nvSpPr>
        <p:spPr>
          <a:xfrm rot="0">
            <a:off x="804672" y="1389888"/>
            <a:ext cx="5010912" cy="3478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Menu using switch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7" name="矩形"/>
          <p:cNvSpPr>
            <a:spLocks/>
          </p:cNvSpPr>
          <p:nvPr/>
        </p:nvSpPr>
        <p:spPr>
          <a:xfrm rot="0">
            <a:off x="804672" y="1801368"/>
            <a:ext cx="5010912" cy="16559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1 — Add Reading</a:t>
            </a:r>
            <a:endParaRPr lang="en-US" altLang="zh-CN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2 — View Bill</a:t>
            </a:r>
            <a:endParaRPr lang="en-US" altLang="zh-CN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3 — Usage History</a:t>
            </a:r>
            <a:endParaRPr lang="en-US" altLang="zh-CN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4 — Report</a:t>
            </a:r>
            <a:endParaRPr lang="en-US" altLang="zh-CN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 — Exit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8" name="圆角矩形"/>
          <p:cNvSpPr>
            <a:spLocks/>
          </p:cNvSpPr>
          <p:nvPr/>
        </p:nvSpPr>
        <p:spPr>
          <a:xfrm rot="0">
            <a:off x="6172200" y="1234440"/>
            <a:ext cx="5394959" cy="187451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9" name="矩形"/>
          <p:cNvSpPr>
            <a:spLocks/>
          </p:cNvSpPr>
          <p:nvPr/>
        </p:nvSpPr>
        <p:spPr>
          <a:xfrm rot="0">
            <a:off x="6172200" y="1234440"/>
            <a:ext cx="82296" cy="1874518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0" name="矩形"/>
          <p:cNvSpPr>
            <a:spLocks/>
          </p:cNvSpPr>
          <p:nvPr/>
        </p:nvSpPr>
        <p:spPr>
          <a:xfrm rot="0">
            <a:off x="6382512" y="1389888"/>
            <a:ext cx="5010912" cy="3478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Loops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1" name="矩形"/>
          <p:cNvSpPr>
            <a:spLocks/>
          </p:cNvSpPr>
          <p:nvPr/>
        </p:nvSpPr>
        <p:spPr>
          <a:xfrm rot="0">
            <a:off x="6382512" y="1801368"/>
            <a:ext cx="5010912" cy="7669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do-while keeps the menu running until exit. A for loop prints monthly records; a while loop searches for a household record.</a:t>
            </a:r>
            <a:endParaRPr lang="zh-CN" altLang="en-US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2" name="圆角矩形"/>
          <p:cNvSpPr>
            <a:spLocks/>
          </p:cNvSpPr>
          <p:nvPr/>
        </p:nvSpPr>
        <p:spPr>
          <a:xfrm rot="0">
            <a:off x="594360" y="3383279"/>
            <a:ext cx="539496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3" name="矩形"/>
          <p:cNvSpPr>
            <a:spLocks/>
          </p:cNvSpPr>
          <p:nvPr/>
        </p:nvSpPr>
        <p:spPr>
          <a:xfrm rot="0">
            <a:off x="594360" y="3383279"/>
            <a:ext cx="82296" cy="1920240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4" name="矩形"/>
          <p:cNvSpPr>
            <a:spLocks/>
          </p:cNvSpPr>
          <p:nvPr/>
        </p:nvSpPr>
        <p:spPr>
          <a:xfrm rot="0">
            <a:off x="804672" y="3538728"/>
            <a:ext cx="5010912" cy="3478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Conditions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5" name="矩形"/>
          <p:cNvSpPr>
            <a:spLocks/>
          </p:cNvSpPr>
          <p:nvPr/>
        </p:nvSpPr>
        <p:spPr>
          <a:xfrm rot="0">
            <a:off x="804672" y="3950207"/>
            <a:ext cx="5010912" cy="3478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if / else-if validates readings, month and household ID.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6" name="圆角矩形"/>
          <p:cNvSpPr>
            <a:spLocks/>
          </p:cNvSpPr>
          <p:nvPr/>
        </p:nvSpPr>
        <p:spPr>
          <a:xfrm rot="0">
            <a:off x="6172200" y="3383279"/>
            <a:ext cx="5394959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7" name="矩形"/>
          <p:cNvSpPr>
            <a:spLocks/>
          </p:cNvSpPr>
          <p:nvPr/>
        </p:nvSpPr>
        <p:spPr>
          <a:xfrm rot="0">
            <a:off x="6172200" y="3383279"/>
            <a:ext cx="82296" cy="1920240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8" name="矩形"/>
          <p:cNvSpPr>
            <a:spLocks/>
          </p:cNvSpPr>
          <p:nvPr/>
        </p:nvSpPr>
        <p:spPr>
          <a:xfrm rot="0">
            <a:off x="6382512" y="3538728"/>
            <a:ext cx="5010912" cy="3478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Other control structures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9" name="矩形"/>
          <p:cNvSpPr>
            <a:spLocks/>
          </p:cNvSpPr>
          <p:nvPr/>
        </p:nvSpPr>
        <p:spPr>
          <a:xfrm rot="0">
            <a:off x="6382512" y="3950207"/>
            <a:ext cx="5010912" cy="5859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continue skips incomplete report records. Nested loops display households and their monthly readings.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986689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矩形"/>
          <p:cNvSpPr>
            <a:spLocks/>
          </p:cNvSpPr>
          <p:nvPr/>
        </p:nvSpPr>
        <p:spPr>
          <a:xfrm rot="0">
            <a:off x="0" y="0"/>
            <a:ext cx="12191694" cy="128015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1" name="矩形"/>
          <p:cNvSpPr>
            <a:spLocks/>
          </p:cNvSpPr>
          <p:nvPr/>
        </p:nvSpPr>
        <p:spPr>
          <a:xfrm rot="0">
            <a:off x="0" y="6711696"/>
            <a:ext cx="12191694" cy="146303"/>
          </a:xfrm>
          <a:prstGeom prst="rect"/>
          <a:solidFill>
            <a:srgbClr val="0F2B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2" name="矩形"/>
          <p:cNvSpPr>
            <a:spLocks/>
          </p:cNvSpPr>
          <p:nvPr/>
        </p:nvSpPr>
        <p:spPr>
          <a:xfrm rot="0">
            <a:off x="502919" y="320040"/>
            <a:ext cx="10789920" cy="5193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 3: Methods &amp; Arrays</a:t>
            </a:r>
            <a:endParaRPr lang="zh-CN" altLang="en-US" sz="27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3" name="矩形"/>
          <p:cNvSpPr>
            <a:spLocks/>
          </p:cNvSpPr>
          <p:nvPr/>
        </p:nvSpPr>
        <p:spPr>
          <a:xfrm rot="0">
            <a:off x="530352" y="932688"/>
            <a:ext cx="685800" cy="50292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4" name="圆角矩形"/>
          <p:cNvSpPr>
            <a:spLocks/>
          </p:cNvSpPr>
          <p:nvPr/>
        </p:nvSpPr>
        <p:spPr>
          <a:xfrm rot="0">
            <a:off x="10332720" y="347472"/>
            <a:ext cx="1325880" cy="320040"/>
          </a:xfrm>
          <a:prstGeom prst="roundRect">
            <a:avLst>
              <a:gd name="adj" fmla="val 12000"/>
            </a:avLst>
          </a:prstGeom>
          <a:solidFill>
            <a:srgbClr val="DBF5F3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5" name="矩形"/>
          <p:cNvSpPr>
            <a:spLocks/>
          </p:cNvSpPr>
          <p:nvPr/>
        </p:nvSpPr>
        <p:spPr>
          <a:xfrm rot="0">
            <a:off x="10369296" y="408622"/>
            <a:ext cx="1261872" cy="1428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MODULE 3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6" name="矩形"/>
          <p:cNvSpPr>
            <a:spLocks/>
          </p:cNvSpPr>
          <p:nvPr/>
        </p:nvSpPr>
        <p:spPr>
          <a:xfrm rot="0">
            <a:off x="548640" y="6419087"/>
            <a:ext cx="6400800" cy="1143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677A8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HOUSEHOLD WATER USAGE  •  JAVA PROJECT</a:t>
            </a:r>
            <a:endParaRPr lang="zh-CN" altLang="en-US" sz="800" b="0" i="0" u="none" strike="noStrike" kern="1200" cap="none" spc="0" baseline="0">
              <a:solidFill>
                <a:srgbClr val="677A8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7" name="矩形"/>
          <p:cNvSpPr>
            <a:spLocks/>
          </p:cNvSpPr>
          <p:nvPr/>
        </p:nvSpPr>
        <p:spPr>
          <a:xfrm rot="0">
            <a:off x="11201399" y="6391656"/>
            <a:ext cx="411480" cy="1428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06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8" name="圆角矩形"/>
          <p:cNvSpPr>
            <a:spLocks/>
          </p:cNvSpPr>
          <p:nvPr/>
        </p:nvSpPr>
        <p:spPr>
          <a:xfrm rot="0">
            <a:off x="594360" y="1234440"/>
            <a:ext cx="53949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9" name="矩形"/>
          <p:cNvSpPr>
            <a:spLocks/>
          </p:cNvSpPr>
          <p:nvPr/>
        </p:nvSpPr>
        <p:spPr>
          <a:xfrm rot="0">
            <a:off x="594360" y="1234440"/>
            <a:ext cx="82296" cy="1828800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0" name="矩形"/>
          <p:cNvSpPr>
            <a:spLocks/>
          </p:cNvSpPr>
          <p:nvPr/>
        </p:nvSpPr>
        <p:spPr>
          <a:xfrm rot="0">
            <a:off x="804672" y="1389888"/>
            <a:ext cx="5010912" cy="3478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Reusable methods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1" name="矩形"/>
          <p:cNvSpPr>
            <a:spLocks/>
          </p:cNvSpPr>
          <p:nvPr/>
        </p:nvSpPr>
        <p:spPr>
          <a:xfrm rot="0">
            <a:off x="804672" y="1801368"/>
            <a:ext cx="5010912" cy="1328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calculateUsage()</a:t>
            </a:r>
            <a:endParaRPr lang="en-US" altLang="zh-CN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calculateBill()</a:t>
            </a:r>
            <a:endParaRPr lang="en-US" altLang="zh-CN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printBill()</a:t>
            </a:r>
            <a:endParaRPr lang="en-US" altLang="zh-CN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validateReadings()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2" name="圆角矩形"/>
          <p:cNvSpPr>
            <a:spLocks/>
          </p:cNvSpPr>
          <p:nvPr/>
        </p:nvSpPr>
        <p:spPr>
          <a:xfrm rot="0">
            <a:off x="6172200" y="1234440"/>
            <a:ext cx="5394959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3" name="矩形"/>
          <p:cNvSpPr>
            <a:spLocks/>
          </p:cNvSpPr>
          <p:nvPr/>
        </p:nvSpPr>
        <p:spPr>
          <a:xfrm rot="0">
            <a:off x="6172200" y="1234440"/>
            <a:ext cx="82296" cy="1828800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4" name="矩形"/>
          <p:cNvSpPr>
            <a:spLocks/>
          </p:cNvSpPr>
          <p:nvPr/>
        </p:nvSpPr>
        <p:spPr>
          <a:xfrm rot="0">
            <a:off x="6382512" y="1389888"/>
            <a:ext cx="5010912" cy="3478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Parameters &amp; overloading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5" name="矩形"/>
          <p:cNvSpPr>
            <a:spLocks/>
          </p:cNvSpPr>
          <p:nvPr/>
        </p:nvSpPr>
        <p:spPr>
          <a:xfrm rot="0">
            <a:off x="6382512" y="1801368"/>
            <a:ext cx="5010912" cy="11257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Pass previous reading, current reading and rate; return usage or bill.</a:t>
            </a:r>
            <a:endParaRPr lang="en-US" altLang="zh-CN" sz="14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endParaRPr lang="en-US" altLang="zh-CN" sz="14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findHousehold(int id) and findHousehold(String name)</a:t>
            </a:r>
            <a:endParaRPr lang="zh-CN" altLang="en-US" sz="14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6" name="圆角矩形"/>
          <p:cNvSpPr>
            <a:spLocks/>
          </p:cNvSpPr>
          <p:nvPr/>
        </p:nvSpPr>
        <p:spPr>
          <a:xfrm rot="0">
            <a:off x="594360" y="3337560"/>
            <a:ext cx="53949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7" name="矩形"/>
          <p:cNvSpPr>
            <a:spLocks/>
          </p:cNvSpPr>
          <p:nvPr/>
        </p:nvSpPr>
        <p:spPr>
          <a:xfrm rot="0">
            <a:off x="594360" y="3337560"/>
            <a:ext cx="82296" cy="1965960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8" name="矩形"/>
          <p:cNvSpPr>
            <a:spLocks/>
          </p:cNvSpPr>
          <p:nvPr/>
        </p:nvSpPr>
        <p:spPr>
          <a:xfrm rot="0">
            <a:off x="804672" y="3493008"/>
            <a:ext cx="5010912" cy="3478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1D arrays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9" name="矩形"/>
          <p:cNvSpPr>
            <a:spLocks/>
          </p:cNvSpPr>
          <p:nvPr/>
        </p:nvSpPr>
        <p:spPr>
          <a:xfrm rot="0">
            <a:off x="804672" y="3904487"/>
            <a:ext cx="5010912" cy="5859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Store monthly usage and calculate the sum, average and highest usage.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40" name="圆角矩形"/>
          <p:cNvSpPr>
            <a:spLocks/>
          </p:cNvSpPr>
          <p:nvPr/>
        </p:nvSpPr>
        <p:spPr>
          <a:xfrm rot="0">
            <a:off x="6172200" y="3337560"/>
            <a:ext cx="5394959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1" name="矩形"/>
          <p:cNvSpPr>
            <a:spLocks/>
          </p:cNvSpPr>
          <p:nvPr/>
        </p:nvSpPr>
        <p:spPr>
          <a:xfrm rot="0">
            <a:off x="6172200" y="3337560"/>
            <a:ext cx="82296" cy="1965960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2" name="矩形"/>
          <p:cNvSpPr>
            <a:spLocks/>
          </p:cNvSpPr>
          <p:nvPr/>
        </p:nvSpPr>
        <p:spPr>
          <a:xfrm rot="0">
            <a:off x="6382512" y="3493008"/>
            <a:ext cx="5010912" cy="3478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2D arrays &amp; recursion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43" name="矩形"/>
          <p:cNvSpPr>
            <a:spLocks/>
          </p:cNvSpPr>
          <p:nvPr/>
        </p:nvSpPr>
        <p:spPr>
          <a:xfrm rot="0">
            <a:off x="6382512" y="3904487"/>
            <a:ext cx="5010912" cy="7383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Usage table [household][month] stores yearly records. Optional recursion can total monthly water charges. A for-each loop prints each month’s usage and bill.</a:t>
            </a:r>
            <a:endParaRPr lang="zh-CN" altLang="en-US" sz="14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651662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矩形"/>
          <p:cNvSpPr>
            <a:spLocks/>
          </p:cNvSpPr>
          <p:nvPr/>
        </p:nvSpPr>
        <p:spPr>
          <a:xfrm rot="0">
            <a:off x="0" y="0"/>
            <a:ext cx="12191694" cy="128015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5" name="矩形"/>
          <p:cNvSpPr>
            <a:spLocks/>
          </p:cNvSpPr>
          <p:nvPr/>
        </p:nvSpPr>
        <p:spPr>
          <a:xfrm rot="0">
            <a:off x="0" y="6711696"/>
            <a:ext cx="12191694" cy="146303"/>
          </a:xfrm>
          <a:prstGeom prst="rect"/>
          <a:solidFill>
            <a:srgbClr val="0F2B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6" name="矩形"/>
          <p:cNvSpPr>
            <a:spLocks/>
          </p:cNvSpPr>
          <p:nvPr/>
        </p:nvSpPr>
        <p:spPr>
          <a:xfrm rot="0">
            <a:off x="502919" y="320040"/>
            <a:ext cx="1078992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 4: OOP &amp; Exceptions</a:t>
            </a:r>
            <a:endParaRPr lang="zh-CN" altLang="en-US" sz="27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47" name="矩形"/>
          <p:cNvSpPr>
            <a:spLocks/>
          </p:cNvSpPr>
          <p:nvPr/>
        </p:nvSpPr>
        <p:spPr>
          <a:xfrm rot="0">
            <a:off x="530352" y="932688"/>
            <a:ext cx="685800" cy="50292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8" name="圆角矩形"/>
          <p:cNvSpPr>
            <a:spLocks/>
          </p:cNvSpPr>
          <p:nvPr/>
        </p:nvSpPr>
        <p:spPr>
          <a:xfrm rot="0">
            <a:off x="10332720" y="347472"/>
            <a:ext cx="1325880" cy="320040"/>
          </a:xfrm>
          <a:prstGeom prst="roundRect">
            <a:avLst>
              <a:gd name="adj" fmla="val 12000"/>
            </a:avLst>
          </a:prstGeom>
          <a:solidFill>
            <a:srgbClr val="DBF5F3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9" name="矩形"/>
          <p:cNvSpPr>
            <a:spLocks/>
          </p:cNvSpPr>
          <p:nvPr/>
        </p:nvSpPr>
        <p:spPr>
          <a:xfrm rot="0">
            <a:off x="10369296" y="370332"/>
            <a:ext cx="1261872" cy="2194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MODULE 4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0" name="矩形"/>
          <p:cNvSpPr>
            <a:spLocks/>
          </p:cNvSpPr>
          <p:nvPr/>
        </p:nvSpPr>
        <p:spPr>
          <a:xfrm rot="0">
            <a:off x="548640" y="6419087"/>
            <a:ext cx="6400800" cy="1828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677A8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HOUSEHOLD WATER USAGE  •  JAVA PROJECT</a:t>
            </a:r>
            <a:endParaRPr lang="zh-CN" altLang="en-US" sz="800" b="0" i="0" u="none" strike="noStrike" kern="1200" cap="none" spc="0" baseline="0">
              <a:solidFill>
                <a:srgbClr val="677A8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1" name="矩形"/>
          <p:cNvSpPr>
            <a:spLocks/>
          </p:cNvSpPr>
          <p:nvPr/>
        </p:nvSpPr>
        <p:spPr>
          <a:xfrm rot="0">
            <a:off x="11201399" y="6391656"/>
            <a:ext cx="41148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07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2" name="圆角矩形"/>
          <p:cNvSpPr>
            <a:spLocks/>
          </p:cNvSpPr>
          <p:nvPr/>
        </p:nvSpPr>
        <p:spPr>
          <a:xfrm rot="0">
            <a:off x="594360" y="1234440"/>
            <a:ext cx="5394960" cy="187451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3" name="矩形"/>
          <p:cNvSpPr>
            <a:spLocks/>
          </p:cNvSpPr>
          <p:nvPr/>
        </p:nvSpPr>
        <p:spPr>
          <a:xfrm rot="0">
            <a:off x="594360" y="1234440"/>
            <a:ext cx="82296" cy="1874518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4" name="矩形"/>
          <p:cNvSpPr>
            <a:spLocks/>
          </p:cNvSpPr>
          <p:nvPr/>
        </p:nvSpPr>
        <p:spPr>
          <a:xfrm rot="0">
            <a:off x="804672" y="1389888"/>
            <a:ext cx="5010912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Classes &amp; objects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5" name="矩形"/>
          <p:cNvSpPr>
            <a:spLocks/>
          </p:cNvSpPr>
          <p:nvPr/>
        </p:nvSpPr>
        <p:spPr>
          <a:xfrm rot="0">
            <a:off x="804672" y="1801368"/>
            <a:ext cx="5010912" cy="12161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Household, MeterReading, WaterBill and UsageReport. Objects are created with new.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6" name="圆角矩形"/>
          <p:cNvSpPr>
            <a:spLocks/>
          </p:cNvSpPr>
          <p:nvPr/>
        </p:nvSpPr>
        <p:spPr>
          <a:xfrm rot="0">
            <a:off x="6172200" y="1234440"/>
            <a:ext cx="5394959" cy="187451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7" name="矩形"/>
          <p:cNvSpPr>
            <a:spLocks/>
          </p:cNvSpPr>
          <p:nvPr/>
        </p:nvSpPr>
        <p:spPr>
          <a:xfrm rot="0">
            <a:off x="6172200" y="1234440"/>
            <a:ext cx="82296" cy="1874518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8" name="矩形"/>
          <p:cNvSpPr>
            <a:spLocks/>
          </p:cNvSpPr>
          <p:nvPr/>
        </p:nvSpPr>
        <p:spPr>
          <a:xfrm rot="0">
            <a:off x="6382512" y="1389888"/>
            <a:ext cx="5010912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Constructors &amp; encapsulation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9" name="矩形"/>
          <p:cNvSpPr>
            <a:spLocks/>
          </p:cNvSpPr>
          <p:nvPr/>
        </p:nvSpPr>
        <p:spPr>
          <a:xfrm rot="0">
            <a:off x="6382512" y="1801368"/>
            <a:ext cx="5010912" cy="12161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Default and parameterized constructors; this initializes fields. Private fields with getters and setters protect data.</a:t>
            </a:r>
            <a:endParaRPr lang="zh-CN" altLang="en-US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0" name="圆角矩形"/>
          <p:cNvSpPr>
            <a:spLocks/>
          </p:cNvSpPr>
          <p:nvPr/>
        </p:nvSpPr>
        <p:spPr>
          <a:xfrm rot="0">
            <a:off x="594360" y="3383279"/>
            <a:ext cx="539496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1" name="矩形"/>
          <p:cNvSpPr>
            <a:spLocks/>
          </p:cNvSpPr>
          <p:nvPr/>
        </p:nvSpPr>
        <p:spPr>
          <a:xfrm rot="0">
            <a:off x="594360" y="3383279"/>
            <a:ext cx="82296" cy="1920240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2" name="矩形"/>
          <p:cNvSpPr>
            <a:spLocks/>
          </p:cNvSpPr>
          <p:nvPr/>
        </p:nvSpPr>
        <p:spPr>
          <a:xfrm rot="0">
            <a:off x="804672" y="3538728"/>
            <a:ext cx="5010912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Other OOP concepts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3" name="矩形"/>
          <p:cNvSpPr>
            <a:spLocks/>
          </p:cNvSpPr>
          <p:nvPr/>
        </p:nvSpPr>
        <p:spPr>
          <a:xfrm rot="0">
            <a:off x="804672" y="3950207"/>
            <a:ext cx="5010912" cy="12618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static int nextId for household IDs; constants for water rates. Account can be a parent class if required.</a:t>
            </a:r>
            <a:endParaRPr lang="zh-CN" altLang="en-US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4" name="圆角矩形"/>
          <p:cNvSpPr>
            <a:spLocks/>
          </p:cNvSpPr>
          <p:nvPr/>
        </p:nvSpPr>
        <p:spPr>
          <a:xfrm rot="0">
            <a:off x="6172200" y="3383279"/>
            <a:ext cx="5394959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5" name="矩形"/>
          <p:cNvSpPr>
            <a:spLocks/>
          </p:cNvSpPr>
          <p:nvPr/>
        </p:nvSpPr>
        <p:spPr>
          <a:xfrm rot="0">
            <a:off x="6172200" y="3383279"/>
            <a:ext cx="82296" cy="1920240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6" name="矩形"/>
          <p:cNvSpPr>
            <a:spLocks/>
          </p:cNvSpPr>
          <p:nvPr/>
        </p:nvSpPr>
        <p:spPr>
          <a:xfrm rot="0">
            <a:off x="6382512" y="3538728"/>
            <a:ext cx="5010912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Interface &amp; exceptions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7" name="矩形"/>
          <p:cNvSpPr>
            <a:spLocks/>
          </p:cNvSpPr>
          <p:nvPr/>
        </p:nvSpPr>
        <p:spPr>
          <a:xfrm rot="0">
            <a:off x="6382512" y="3950207"/>
            <a:ext cx="5010912" cy="12618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Billable defines calculateBill(). toString() displays bill details. Use try-catch-finally for invalid readings and file errors.</a:t>
            </a:r>
            <a:endParaRPr lang="zh-CN" altLang="en-US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558139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矩形"/>
          <p:cNvSpPr>
            <a:spLocks/>
          </p:cNvSpPr>
          <p:nvPr/>
        </p:nvSpPr>
        <p:spPr>
          <a:xfrm rot="0">
            <a:off x="0" y="0"/>
            <a:ext cx="12191694" cy="128015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9" name="矩形"/>
          <p:cNvSpPr>
            <a:spLocks/>
          </p:cNvSpPr>
          <p:nvPr/>
        </p:nvSpPr>
        <p:spPr>
          <a:xfrm rot="0">
            <a:off x="0" y="6711696"/>
            <a:ext cx="12191694" cy="146303"/>
          </a:xfrm>
          <a:prstGeom prst="rect"/>
          <a:solidFill>
            <a:srgbClr val="0F2B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0" name="矩形"/>
          <p:cNvSpPr>
            <a:spLocks/>
          </p:cNvSpPr>
          <p:nvPr/>
        </p:nvSpPr>
        <p:spPr>
          <a:xfrm rot="0">
            <a:off x="502919" y="320040"/>
            <a:ext cx="1078992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 5: Strings &amp; File I/O</a:t>
            </a:r>
            <a:endParaRPr lang="zh-CN" altLang="en-US" sz="27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1" name="矩形"/>
          <p:cNvSpPr>
            <a:spLocks/>
          </p:cNvSpPr>
          <p:nvPr/>
        </p:nvSpPr>
        <p:spPr>
          <a:xfrm rot="0">
            <a:off x="530352" y="932688"/>
            <a:ext cx="685800" cy="50292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2" name="圆角矩形"/>
          <p:cNvSpPr>
            <a:spLocks/>
          </p:cNvSpPr>
          <p:nvPr/>
        </p:nvSpPr>
        <p:spPr>
          <a:xfrm rot="0">
            <a:off x="10332720" y="347472"/>
            <a:ext cx="1325880" cy="320040"/>
          </a:xfrm>
          <a:prstGeom prst="roundRect">
            <a:avLst>
              <a:gd name="adj" fmla="val 12000"/>
            </a:avLst>
          </a:prstGeom>
          <a:solidFill>
            <a:srgbClr val="DBF5F3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3" name="矩形"/>
          <p:cNvSpPr>
            <a:spLocks/>
          </p:cNvSpPr>
          <p:nvPr/>
        </p:nvSpPr>
        <p:spPr>
          <a:xfrm rot="0">
            <a:off x="10369296" y="370332"/>
            <a:ext cx="1261872" cy="2194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MODULE 5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4" name="矩形"/>
          <p:cNvSpPr>
            <a:spLocks/>
          </p:cNvSpPr>
          <p:nvPr/>
        </p:nvSpPr>
        <p:spPr>
          <a:xfrm rot="0">
            <a:off x="548640" y="6419087"/>
            <a:ext cx="6400800" cy="1828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677A8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HOUSEHOLD WATER USAGE  •  JAVA PROJECT</a:t>
            </a:r>
            <a:endParaRPr lang="zh-CN" altLang="en-US" sz="800" b="0" i="0" u="none" strike="noStrike" kern="1200" cap="none" spc="0" baseline="0">
              <a:solidFill>
                <a:srgbClr val="677A8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5" name="矩形"/>
          <p:cNvSpPr>
            <a:spLocks/>
          </p:cNvSpPr>
          <p:nvPr/>
        </p:nvSpPr>
        <p:spPr>
          <a:xfrm rot="0">
            <a:off x="11201399" y="6391656"/>
            <a:ext cx="41148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08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6" name="圆角矩形"/>
          <p:cNvSpPr>
            <a:spLocks/>
          </p:cNvSpPr>
          <p:nvPr/>
        </p:nvSpPr>
        <p:spPr>
          <a:xfrm rot="0">
            <a:off x="594360" y="1234440"/>
            <a:ext cx="5394960" cy="187451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7" name="矩形"/>
          <p:cNvSpPr>
            <a:spLocks/>
          </p:cNvSpPr>
          <p:nvPr/>
        </p:nvSpPr>
        <p:spPr>
          <a:xfrm rot="0">
            <a:off x="594360" y="1234440"/>
            <a:ext cx="82296" cy="1874518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8" name="矩形"/>
          <p:cNvSpPr>
            <a:spLocks/>
          </p:cNvSpPr>
          <p:nvPr/>
        </p:nvSpPr>
        <p:spPr>
          <a:xfrm rot="0">
            <a:off x="804672" y="1389888"/>
            <a:ext cx="5010912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String handling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9" name="矩形"/>
          <p:cNvSpPr>
            <a:spLocks/>
          </p:cNvSpPr>
          <p:nvPr/>
        </p:nvSpPr>
        <p:spPr>
          <a:xfrm rot="0">
            <a:off x="804672" y="1801368"/>
            <a:ext cx="5010912" cy="12161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Validate household ID and month using trim(), equals() and comparisons. StringBuilder builds the bill line by line.</a:t>
            </a:r>
            <a:endParaRPr lang="zh-CN" altLang="en-US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80" name="圆角矩形"/>
          <p:cNvSpPr>
            <a:spLocks/>
          </p:cNvSpPr>
          <p:nvPr/>
        </p:nvSpPr>
        <p:spPr>
          <a:xfrm rot="0">
            <a:off x="6172200" y="1234440"/>
            <a:ext cx="5394959" cy="187451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1" name="矩形"/>
          <p:cNvSpPr>
            <a:spLocks/>
          </p:cNvSpPr>
          <p:nvPr/>
        </p:nvSpPr>
        <p:spPr>
          <a:xfrm rot="0">
            <a:off x="6172200" y="1234440"/>
            <a:ext cx="82296" cy="1874518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2" name="矩形"/>
          <p:cNvSpPr>
            <a:spLocks/>
          </p:cNvSpPr>
          <p:nvPr/>
        </p:nvSpPr>
        <p:spPr>
          <a:xfrm rot="0">
            <a:off x="6382512" y="1389888"/>
            <a:ext cx="5010912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CSV processing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83" name="矩形"/>
          <p:cNvSpPr>
            <a:spLocks/>
          </p:cNvSpPr>
          <p:nvPr/>
        </p:nvSpPr>
        <p:spPr>
          <a:xfrm rot="0">
            <a:off x="6382512" y="1801368"/>
            <a:ext cx="5010912" cy="12161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split(",") reads CSV records; join() writes them. Sort monthly usage by month or consumption and search by household ID.</a:t>
            </a:r>
            <a:endParaRPr lang="zh-CN" altLang="en-US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84" name="圆角矩形"/>
          <p:cNvSpPr>
            <a:spLocks/>
          </p:cNvSpPr>
          <p:nvPr/>
        </p:nvSpPr>
        <p:spPr>
          <a:xfrm rot="0">
            <a:off x="594360" y="3383279"/>
            <a:ext cx="539496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5" name="矩形"/>
          <p:cNvSpPr>
            <a:spLocks/>
          </p:cNvSpPr>
          <p:nvPr/>
        </p:nvSpPr>
        <p:spPr>
          <a:xfrm rot="0">
            <a:off x="594360" y="3383279"/>
            <a:ext cx="82296" cy="1920240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6" name="矩形"/>
          <p:cNvSpPr>
            <a:spLocks/>
          </p:cNvSpPr>
          <p:nvPr/>
        </p:nvSpPr>
        <p:spPr>
          <a:xfrm rot="0">
            <a:off x="804672" y="3538728"/>
            <a:ext cx="5010912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Save records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87" name="矩形"/>
          <p:cNvSpPr>
            <a:spLocks/>
          </p:cNvSpPr>
          <p:nvPr/>
        </p:nvSpPr>
        <p:spPr>
          <a:xfrm rot="0">
            <a:off x="804672" y="3950207"/>
            <a:ext cx="5010912" cy="12618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Write readings to water_usage.csv and append new records.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88" name="圆角矩形"/>
          <p:cNvSpPr>
            <a:spLocks/>
          </p:cNvSpPr>
          <p:nvPr/>
        </p:nvSpPr>
        <p:spPr>
          <a:xfrm rot="0">
            <a:off x="6172200" y="3383279"/>
            <a:ext cx="5394959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9" name="矩形"/>
          <p:cNvSpPr>
            <a:spLocks/>
          </p:cNvSpPr>
          <p:nvPr/>
        </p:nvSpPr>
        <p:spPr>
          <a:xfrm rot="0">
            <a:off x="6172200" y="3383279"/>
            <a:ext cx="82296" cy="1920240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0" name="矩形"/>
          <p:cNvSpPr>
            <a:spLocks/>
          </p:cNvSpPr>
          <p:nvPr/>
        </p:nvSpPr>
        <p:spPr>
          <a:xfrm rot="0">
            <a:off x="6382512" y="3538728"/>
            <a:ext cx="5010912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Load records safely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1" name="矩形"/>
          <p:cNvSpPr>
            <a:spLocks/>
          </p:cNvSpPr>
          <p:nvPr/>
        </p:nvSpPr>
        <p:spPr>
          <a:xfrm rot="0">
            <a:off x="6382512" y="3950207"/>
            <a:ext cx="5010912" cy="12618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Read records line by line, skip malformed entries and use try-with-resources to close readers and writers automatically.</a:t>
            </a:r>
            <a:endParaRPr lang="zh-CN" altLang="en-US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175431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矩形"/>
          <p:cNvSpPr>
            <a:spLocks/>
          </p:cNvSpPr>
          <p:nvPr/>
        </p:nvSpPr>
        <p:spPr>
          <a:xfrm rot="0">
            <a:off x="0" y="0"/>
            <a:ext cx="12191694" cy="128015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3" name="矩形"/>
          <p:cNvSpPr>
            <a:spLocks/>
          </p:cNvSpPr>
          <p:nvPr/>
        </p:nvSpPr>
        <p:spPr>
          <a:xfrm rot="0">
            <a:off x="0" y="6711696"/>
            <a:ext cx="12191694" cy="146303"/>
          </a:xfrm>
          <a:prstGeom prst="rect"/>
          <a:solidFill>
            <a:srgbClr val="0F2B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4" name="矩形"/>
          <p:cNvSpPr>
            <a:spLocks/>
          </p:cNvSpPr>
          <p:nvPr/>
        </p:nvSpPr>
        <p:spPr>
          <a:xfrm rot="0">
            <a:off x="502919" y="320040"/>
            <a:ext cx="1078992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 6: Collections &amp; Streams</a:t>
            </a:r>
            <a:endParaRPr lang="zh-CN" altLang="en-US" sz="27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5" name="矩形"/>
          <p:cNvSpPr>
            <a:spLocks/>
          </p:cNvSpPr>
          <p:nvPr/>
        </p:nvSpPr>
        <p:spPr>
          <a:xfrm rot="0">
            <a:off x="530352" y="932688"/>
            <a:ext cx="685800" cy="50292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6" name="圆角矩形"/>
          <p:cNvSpPr>
            <a:spLocks/>
          </p:cNvSpPr>
          <p:nvPr/>
        </p:nvSpPr>
        <p:spPr>
          <a:xfrm rot="0">
            <a:off x="10332720" y="347472"/>
            <a:ext cx="1325880" cy="320040"/>
          </a:xfrm>
          <a:prstGeom prst="roundRect">
            <a:avLst>
              <a:gd name="adj" fmla="val 12000"/>
            </a:avLst>
          </a:prstGeom>
          <a:solidFill>
            <a:srgbClr val="DBF5F3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7" name="矩形"/>
          <p:cNvSpPr>
            <a:spLocks/>
          </p:cNvSpPr>
          <p:nvPr/>
        </p:nvSpPr>
        <p:spPr>
          <a:xfrm rot="0">
            <a:off x="10369296" y="370332"/>
            <a:ext cx="1261872" cy="2194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MODULE 6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8" name="矩形"/>
          <p:cNvSpPr>
            <a:spLocks/>
          </p:cNvSpPr>
          <p:nvPr/>
        </p:nvSpPr>
        <p:spPr>
          <a:xfrm rot="0">
            <a:off x="548640" y="6419087"/>
            <a:ext cx="6400800" cy="1828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677A8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HOUSEHOLD WATER USAGE  •  JAVA PROJECT</a:t>
            </a:r>
            <a:endParaRPr lang="zh-CN" altLang="en-US" sz="800" b="0" i="0" u="none" strike="noStrike" kern="1200" cap="none" spc="0" baseline="0">
              <a:solidFill>
                <a:srgbClr val="677A8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9" name="矩形"/>
          <p:cNvSpPr>
            <a:spLocks/>
          </p:cNvSpPr>
          <p:nvPr/>
        </p:nvSpPr>
        <p:spPr>
          <a:xfrm rot="0">
            <a:off x="11201399" y="6391656"/>
            <a:ext cx="41148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09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0" name="圆角矩形"/>
          <p:cNvSpPr>
            <a:spLocks/>
          </p:cNvSpPr>
          <p:nvPr/>
        </p:nvSpPr>
        <p:spPr>
          <a:xfrm rot="0">
            <a:off x="594360" y="1234440"/>
            <a:ext cx="5394960" cy="187451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1" name="矩形"/>
          <p:cNvSpPr>
            <a:spLocks/>
          </p:cNvSpPr>
          <p:nvPr/>
        </p:nvSpPr>
        <p:spPr>
          <a:xfrm rot="0">
            <a:off x="594360" y="1234440"/>
            <a:ext cx="82296" cy="1874518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2" name="矩形"/>
          <p:cNvSpPr>
            <a:spLocks/>
          </p:cNvSpPr>
          <p:nvPr/>
        </p:nvSpPr>
        <p:spPr>
          <a:xfrm rot="0">
            <a:off x="804672" y="1389888"/>
            <a:ext cx="5010912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Collections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3" name="矩形"/>
          <p:cNvSpPr>
            <a:spLocks/>
          </p:cNvSpPr>
          <p:nvPr/>
        </p:nvSpPr>
        <p:spPr>
          <a:xfrm rot="0">
            <a:off x="804672" y="1801368"/>
            <a:ext cx="5010912" cy="12161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ArrayList&lt;MeterReading&gt; stores readings. HashMap&lt;Integer, Household&gt; supports quick lookup by ID. HashSet stores unique IDs or months.</a:t>
            </a:r>
            <a:endParaRPr lang="zh-CN" altLang="en-US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4" name="圆角矩形"/>
          <p:cNvSpPr>
            <a:spLocks/>
          </p:cNvSpPr>
          <p:nvPr/>
        </p:nvSpPr>
        <p:spPr>
          <a:xfrm rot="0">
            <a:off x="6172200" y="1234440"/>
            <a:ext cx="5394959" cy="187451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5" name="矩形"/>
          <p:cNvSpPr>
            <a:spLocks/>
          </p:cNvSpPr>
          <p:nvPr/>
        </p:nvSpPr>
        <p:spPr>
          <a:xfrm rot="0">
            <a:off x="6172200" y="1234440"/>
            <a:ext cx="82296" cy="1874518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6" name="矩形"/>
          <p:cNvSpPr>
            <a:spLocks/>
          </p:cNvSpPr>
          <p:nvPr/>
        </p:nvSpPr>
        <p:spPr>
          <a:xfrm rot="0">
            <a:off x="6382512" y="1389888"/>
            <a:ext cx="5010912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Generics &amp; lambdas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7" name="矩形"/>
          <p:cNvSpPr>
            <a:spLocks/>
          </p:cNvSpPr>
          <p:nvPr/>
        </p:nvSpPr>
        <p:spPr>
          <a:xfrm rot="0">
            <a:off x="6382512" y="1801368"/>
            <a:ext cx="5010912" cy="12161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Generics reduce casting errors. Lambdas filter readings by household or month and sort results.</a:t>
            </a:r>
            <a:endParaRPr lang="zh-CN" altLang="en-US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8" name="圆角矩形"/>
          <p:cNvSpPr>
            <a:spLocks/>
          </p:cNvSpPr>
          <p:nvPr/>
        </p:nvSpPr>
        <p:spPr>
          <a:xfrm rot="0">
            <a:off x="594360" y="3383279"/>
            <a:ext cx="539496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9" name="矩形"/>
          <p:cNvSpPr>
            <a:spLocks/>
          </p:cNvSpPr>
          <p:nvPr/>
        </p:nvSpPr>
        <p:spPr>
          <a:xfrm rot="0">
            <a:off x="594360" y="3383279"/>
            <a:ext cx="82296" cy="1920240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0" name="矩形"/>
          <p:cNvSpPr>
            <a:spLocks/>
          </p:cNvSpPr>
          <p:nvPr/>
        </p:nvSpPr>
        <p:spPr>
          <a:xfrm rot="0">
            <a:off x="804672" y="3538728"/>
            <a:ext cx="5010912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Stream operations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1" name="矩形"/>
          <p:cNvSpPr>
            <a:spLocks/>
          </p:cNvSpPr>
          <p:nvPr/>
        </p:nvSpPr>
        <p:spPr>
          <a:xfrm rot="0">
            <a:off x="804672" y="3950207"/>
            <a:ext cx="5010912" cy="12618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filter, map, sorted, distinct, count, collect and reduce.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2" name="圆角矩形"/>
          <p:cNvSpPr>
            <a:spLocks/>
          </p:cNvSpPr>
          <p:nvPr/>
        </p:nvSpPr>
        <p:spPr>
          <a:xfrm rot="0">
            <a:off x="6172200" y="3383279"/>
            <a:ext cx="5394959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3" name="矩形"/>
          <p:cNvSpPr>
            <a:spLocks/>
          </p:cNvSpPr>
          <p:nvPr/>
        </p:nvSpPr>
        <p:spPr>
          <a:xfrm rot="0">
            <a:off x="6172200" y="3383279"/>
            <a:ext cx="82296" cy="1920240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4" name="矩形"/>
          <p:cNvSpPr>
            <a:spLocks/>
          </p:cNvSpPr>
          <p:nvPr/>
        </p:nvSpPr>
        <p:spPr>
          <a:xfrm rot="0">
            <a:off x="6382512" y="3538728"/>
            <a:ext cx="5010912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Reports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5" name="矩形"/>
          <p:cNvSpPr>
            <a:spLocks/>
          </p:cNvSpPr>
          <p:nvPr/>
        </p:nvSpPr>
        <p:spPr>
          <a:xfrm rot="0">
            <a:off x="6382512" y="3950207"/>
            <a:ext cx="5010912" cy="12618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Use Collectors.groupingBy(month) to summarize consumption. Read stored records and print monthly usage summaries.</a:t>
            </a:r>
            <a:endParaRPr lang="zh-CN" altLang="en-US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348617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矩形"/>
          <p:cNvSpPr>
            <a:spLocks/>
          </p:cNvSpPr>
          <p:nvPr/>
        </p:nvSpPr>
        <p:spPr>
          <a:xfrm rot="0">
            <a:off x="0" y="0"/>
            <a:ext cx="12191694" cy="128015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7" name="矩形"/>
          <p:cNvSpPr>
            <a:spLocks/>
          </p:cNvSpPr>
          <p:nvPr/>
        </p:nvSpPr>
        <p:spPr>
          <a:xfrm rot="0">
            <a:off x="0" y="6711696"/>
            <a:ext cx="12191694" cy="146303"/>
          </a:xfrm>
          <a:prstGeom prst="rect"/>
          <a:solidFill>
            <a:srgbClr val="0F2B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8" name="矩形"/>
          <p:cNvSpPr>
            <a:spLocks/>
          </p:cNvSpPr>
          <p:nvPr/>
        </p:nvSpPr>
        <p:spPr>
          <a:xfrm rot="0">
            <a:off x="502919" y="320040"/>
            <a:ext cx="1078992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Conclusion</a:t>
            </a:r>
            <a:endParaRPr lang="zh-CN" altLang="en-US" sz="27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9" name="矩形"/>
          <p:cNvSpPr>
            <a:spLocks/>
          </p:cNvSpPr>
          <p:nvPr/>
        </p:nvSpPr>
        <p:spPr>
          <a:xfrm rot="0">
            <a:off x="530352" y="932688"/>
            <a:ext cx="685800" cy="50292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20" name="圆角矩形"/>
          <p:cNvSpPr>
            <a:spLocks/>
          </p:cNvSpPr>
          <p:nvPr/>
        </p:nvSpPr>
        <p:spPr>
          <a:xfrm rot="0">
            <a:off x="10332720" y="347472"/>
            <a:ext cx="1325880" cy="320040"/>
          </a:xfrm>
          <a:prstGeom prst="roundRect">
            <a:avLst>
              <a:gd name="adj" fmla="val 12000"/>
            </a:avLst>
          </a:prstGeom>
          <a:solidFill>
            <a:srgbClr val="DBF5F3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21" name="矩形"/>
          <p:cNvSpPr>
            <a:spLocks/>
          </p:cNvSpPr>
          <p:nvPr/>
        </p:nvSpPr>
        <p:spPr>
          <a:xfrm rot="0">
            <a:off x="10369296" y="370332"/>
            <a:ext cx="1261872" cy="2194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SUMMARY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22" name="矩形"/>
          <p:cNvSpPr>
            <a:spLocks/>
          </p:cNvSpPr>
          <p:nvPr/>
        </p:nvSpPr>
        <p:spPr>
          <a:xfrm rot="0">
            <a:off x="548640" y="6419087"/>
            <a:ext cx="6400800" cy="1828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677A8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HOUSEHOLD WATER USAGE  •  JAVA PROJECT</a:t>
            </a:r>
            <a:endParaRPr lang="zh-CN" altLang="en-US" sz="800" b="0" i="0" u="none" strike="noStrike" kern="1200" cap="none" spc="0" baseline="0">
              <a:solidFill>
                <a:srgbClr val="677A8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23" name="矩形"/>
          <p:cNvSpPr>
            <a:spLocks/>
          </p:cNvSpPr>
          <p:nvPr/>
        </p:nvSpPr>
        <p:spPr>
          <a:xfrm rot="0">
            <a:off x="11201399" y="6391656"/>
            <a:ext cx="41148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10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24" name="圆角矩形"/>
          <p:cNvSpPr>
            <a:spLocks/>
          </p:cNvSpPr>
          <p:nvPr/>
        </p:nvSpPr>
        <p:spPr>
          <a:xfrm rot="0">
            <a:off x="594360" y="1234440"/>
            <a:ext cx="53949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25" name="矩形"/>
          <p:cNvSpPr>
            <a:spLocks/>
          </p:cNvSpPr>
          <p:nvPr/>
        </p:nvSpPr>
        <p:spPr>
          <a:xfrm rot="0">
            <a:off x="594360" y="1234440"/>
            <a:ext cx="82296" cy="1828800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26" name="矩形"/>
          <p:cNvSpPr>
            <a:spLocks/>
          </p:cNvSpPr>
          <p:nvPr/>
        </p:nvSpPr>
        <p:spPr>
          <a:xfrm rot="0">
            <a:off x="804672" y="1389888"/>
            <a:ext cx="5010912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Project result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27" name="矩形"/>
          <p:cNvSpPr>
            <a:spLocks/>
          </p:cNvSpPr>
          <p:nvPr/>
        </p:nvSpPr>
        <p:spPr>
          <a:xfrm rot="0">
            <a:off x="804672" y="1801368"/>
            <a:ext cx="5010912" cy="11704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 Household Water Usage &amp; Billing Monitor designed in Java.</a:t>
            </a:r>
            <a:endParaRPr lang="zh-CN" altLang="en-US" sz="17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28" name="圆角矩形"/>
          <p:cNvSpPr>
            <a:spLocks/>
          </p:cNvSpPr>
          <p:nvPr/>
        </p:nvSpPr>
        <p:spPr>
          <a:xfrm rot="0">
            <a:off x="6172200" y="1234440"/>
            <a:ext cx="5394959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29" name="矩形"/>
          <p:cNvSpPr>
            <a:spLocks/>
          </p:cNvSpPr>
          <p:nvPr/>
        </p:nvSpPr>
        <p:spPr>
          <a:xfrm rot="0">
            <a:off x="6172200" y="1234440"/>
            <a:ext cx="82296" cy="1828800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30" name="矩形"/>
          <p:cNvSpPr>
            <a:spLocks/>
          </p:cNvSpPr>
          <p:nvPr/>
        </p:nvSpPr>
        <p:spPr>
          <a:xfrm rot="0">
            <a:off x="6382512" y="1389888"/>
            <a:ext cx="5010912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 1–2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31" name="矩形"/>
          <p:cNvSpPr>
            <a:spLocks/>
          </p:cNvSpPr>
          <p:nvPr/>
        </p:nvSpPr>
        <p:spPr>
          <a:xfrm rot="0">
            <a:off x="6382512" y="1801368"/>
            <a:ext cx="5010912" cy="11704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Algorithm design, console input/output and menu-driven control flow.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32" name="圆角矩形"/>
          <p:cNvSpPr>
            <a:spLocks/>
          </p:cNvSpPr>
          <p:nvPr/>
        </p:nvSpPr>
        <p:spPr>
          <a:xfrm rot="0">
            <a:off x="594360" y="3337560"/>
            <a:ext cx="53949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33" name="矩形"/>
          <p:cNvSpPr>
            <a:spLocks/>
          </p:cNvSpPr>
          <p:nvPr/>
        </p:nvSpPr>
        <p:spPr>
          <a:xfrm rot="0">
            <a:off x="594360" y="3337560"/>
            <a:ext cx="82296" cy="1828800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34" name="矩形"/>
          <p:cNvSpPr>
            <a:spLocks/>
          </p:cNvSpPr>
          <p:nvPr/>
        </p:nvSpPr>
        <p:spPr>
          <a:xfrm rot="0">
            <a:off x="804672" y="3493008"/>
            <a:ext cx="5010912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 3–4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35" name="矩形"/>
          <p:cNvSpPr>
            <a:spLocks/>
          </p:cNvSpPr>
          <p:nvPr/>
        </p:nvSpPr>
        <p:spPr>
          <a:xfrm rot="0">
            <a:off x="804672" y="3904487"/>
            <a:ext cx="5010912" cy="11704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Reusable methods and arrays for usage calculations; OOP classes, encapsulation and exception handling.</a:t>
            </a:r>
            <a:endParaRPr lang="zh-CN" altLang="en-US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36" name="圆角矩形"/>
          <p:cNvSpPr>
            <a:spLocks/>
          </p:cNvSpPr>
          <p:nvPr/>
        </p:nvSpPr>
        <p:spPr>
          <a:xfrm rot="0">
            <a:off x="6172200" y="3337560"/>
            <a:ext cx="5394959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37" name="矩形"/>
          <p:cNvSpPr>
            <a:spLocks/>
          </p:cNvSpPr>
          <p:nvPr/>
        </p:nvSpPr>
        <p:spPr>
          <a:xfrm rot="0">
            <a:off x="6172200" y="3337560"/>
            <a:ext cx="82296" cy="1828800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38" name="矩形"/>
          <p:cNvSpPr>
            <a:spLocks/>
          </p:cNvSpPr>
          <p:nvPr/>
        </p:nvSpPr>
        <p:spPr>
          <a:xfrm rot="0">
            <a:off x="6382512" y="3493008"/>
            <a:ext cx="5010912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 5–6 &amp; future work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39" name="矩形"/>
          <p:cNvSpPr>
            <a:spLocks/>
          </p:cNvSpPr>
          <p:nvPr/>
        </p:nvSpPr>
        <p:spPr>
          <a:xfrm rot="0">
            <a:off x="6382512" y="3904487"/>
            <a:ext cx="5010912" cy="11704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File storage, collections and Streams for reports. Future work: smart-meter integration, charts, alerts and database storage.</a:t>
            </a:r>
            <a:endParaRPr lang="zh-CN" altLang="en-US" sz="15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857545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矩形"/>
          <p:cNvSpPr>
            <a:spLocks/>
          </p:cNvSpPr>
          <p:nvPr/>
        </p:nvSpPr>
        <p:spPr>
          <a:xfrm rot="0">
            <a:off x="0" y="0"/>
            <a:ext cx="12191694" cy="128015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41" name="矩形"/>
          <p:cNvSpPr>
            <a:spLocks/>
          </p:cNvSpPr>
          <p:nvPr/>
        </p:nvSpPr>
        <p:spPr>
          <a:xfrm rot="0">
            <a:off x="0" y="6711696"/>
            <a:ext cx="12191694" cy="146303"/>
          </a:xfrm>
          <a:prstGeom prst="rect"/>
          <a:solidFill>
            <a:srgbClr val="0F2B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42" name="矩形"/>
          <p:cNvSpPr>
            <a:spLocks/>
          </p:cNvSpPr>
          <p:nvPr/>
        </p:nvSpPr>
        <p:spPr>
          <a:xfrm rot="0">
            <a:off x="502919" y="320040"/>
            <a:ext cx="1078992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Screenshots &amp; Sample Output</a:t>
            </a:r>
            <a:endParaRPr lang="zh-CN" altLang="en-US" sz="27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43" name="矩形"/>
          <p:cNvSpPr>
            <a:spLocks/>
          </p:cNvSpPr>
          <p:nvPr/>
        </p:nvSpPr>
        <p:spPr>
          <a:xfrm rot="0">
            <a:off x="530352" y="932688"/>
            <a:ext cx="685800" cy="50292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44" name="圆角矩形"/>
          <p:cNvSpPr>
            <a:spLocks/>
          </p:cNvSpPr>
          <p:nvPr/>
        </p:nvSpPr>
        <p:spPr>
          <a:xfrm rot="0">
            <a:off x="10332720" y="347472"/>
            <a:ext cx="1325880" cy="320040"/>
          </a:xfrm>
          <a:prstGeom prst="roundRect">
            <a:avLst>
              <a:gd name="adj" fmla="val 12000"/>
            </a:avLst>
          </a:prstGeom>
          <a:solidFill>
            <a:srgbClr val="DBF5F3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45" name="矩形"/>
          <p:cNvSpPr>
            <a:spLocks/>
          </p:cNvSpPr>
          <p:nvPr/>
        </p:nvSpPr>
        <p:spPr>
          <a:xfrm rot="0">
            <a:off x="10369296" y="370332"/>
            <a:ext cx="1261872" cy="2194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DEMO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46" name="矩形"/>
          <p:cNvSpPr>
            <a:spLocks/>
          </p:cNvSpPr>
          <p:nvPr/>
        </p:nvSpPr>
        <p:spPr>
          <a:xfrm rot="0">
            <a:off x="548640" y="6419087"/>
            <a:ext cx="6400800" cy="1828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677A8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HOUSEHOLD WATER USAGE  •  JAVA PROJECT</a:t>
            </a:r>
            <a:endParaRPr lang="zh-CN" altLang="en-US" sz="800" b="0" i="0" u="none" strike="noStrike" kern="1200" cap="none" spc="0" baseline="0">
              <a:solidFill>
                <a:srgbClr val="677A8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47" name="矩形"/>
          <p:cNvSpPr>
            <a:spLocks/>
          </p:cNvSpPr>
          <p:nvPr/>
        </p:nvSpPr>
        <p:spPr>
          <a:xfrm rot="0">
            <a:off x="11201399" y="6391656"/>
            <a:ext cx="41148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11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48" name="圆角矩形"/>
          <p:cNvSpPr>
            <a:spLocks/>
          </p:cNvSpPr>
          <p:nvPr/>
        </p:nvSpPr>
        <p:spPr>
          <a:xfrm rot="0">
            <a:off x="594360" y="1234440"/>
            <a:ext cx="4572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49" name="矩形"/>
          <p:cNvSpPr>
            <a:spLocks/>
          </p:cNvSpPr>
          <p:nvPr/>
        </p:nvSpPr>
        <p:spPr>
          <a:xfrm rot="0">
            <a:off x="594360" y="1234440"/>
            <a:ext cx="82296" cy="1143000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50" name="矩形"/>
          <p:cNvSpPr>
            <a:spLocks/>
          </p:cNvSpPr>
          <p:nvPr/>
        </p:nvSpPr>
        <p:spPr>
          <a:xfrm rot="0">
            <a:off x="804672" y="1389888"/>
            <a:ext cx="4187952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Meter reading input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51" name="矩形"/>
          <p:cNvSpPr>
            <a:spLocks/>
          </p:cNvSpPr>
          <p:nvPr/>
        </p:nvSpPr>
        <p:spPr>
          <a:xfrm rot="0">
            <a:off x="804672" y="1801368"/>
            <a:ext cx="4187952" cy="4846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Add a screenshot of the reading-entry screen here.</a:t>
            </a:r>
            <a:endParaRPr lang="zh-CN" altLang="en-US" sz="13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52" name="圆角矩形"/>
          <p:cNvSpPr>
            <a:spLocks/>
          </p:cNvSpPr>
          <p:nvPr/>
        </p:nvSpPr>
        <p:spPr>
          <a:xfrm rot="0">
            <a:off x="594360" y="2606040"/>
            <a:ext cx="4572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53" name="矩形"/>
          <p:cNvSpPr>
            <a:spLocks/>
          </p:cNvSpPr>
          <p:nvPr/>
        </p:nvSpPr>
        <p:spPr>
          <a:xfrm rot="0">
            <a:off x="594360" y="2606040"/>
            <a:ext cx="82296" cy="1143000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54" name="矩形"/>
          <p:cNvSpPr>
            <a:spLocks/>
          </p:cNvSpPr>
          <p:nvPr/>
        </p:nvSpPr>
        <p:spPr>
          <a:xfrm rot="0">
            <a:off x="804672" y="2761488"/>
            <a:ext cx="4187952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Calculated water bill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55" name="矩形"/>
          <p:cNvSpPr>
            <a:spLocks/>
          </p:cNvSpPr>
          <p:nvPr/>
        </p:nvSpPr>
        <p:spPr>
          <a:xfrm rot="0">
            <a:off x="804672" y="3172968"/>
            <a:ext cx="4187952" cy="4846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Add a screenshot of the calculated bill here.</a:t>
            </a:r>
            <a:endParaRPr lang="zh-CN" altLang="en-US" sz="13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56" name="圆角矩形"/>
          <p:cNvSpPr>
            <a:spLocks/>
          </p:cNvSpPr>
          <p:nvPr/>
        </p:nvSpPr>
        <p:spPr>
          <a:xfrm rot="0">
            <a:off x="594360" y="3977639"/>
            <a:ext cx="4572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57" name="矩形"/>
          <p:cNvSpPr>
            <a:spLocks/>
          </p:cNvSpPr>
          <p:nvPr/>
        </p:nvSpPr>
        <p:spPr>
          <a:xfrm rot="0">
            <a:off x="594360" y="3977639"/>
            <a:ext cx="82296" cy="1143000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58" name="矩形"/>
          <p:cNvSpPr>
            <a:spLocks/>
          </p:cNvSpPr>
          <p:nvPr/>
        </p:nvSpPr>
        <p:spPr>
          <a:xfrm rot="0">
            <a:off x="804672" y="4133087"/>
            <a:ext cx="4187952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Monthly usage report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59" name="矩形"/>
          <p:cNvSpPr>
            <a:spLocks/>
          </p:cNvSpPr>
          <p:nvPr/>
        </p:nvSpPr>
        <p:spPr>
          <a:xfrm rot="0">
            <a:off x="804672" y="4544568"/>
            <a:ext cx="4187952" cy="4846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Add a screenshot of the monthly report here.</a:t>
            </a:r>
            <a:endParaRPr lang="zh-CN" altLang="en-US" sz="13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60" name="圆角矩形"/>
          <p:cNvSpPr>
            <a:spLocks/>
          </p:cNvSpPr>
          <p:nvPr/>
        </p:nvSpPr>
        <p:spPr>
          <a:xfrm rot="0">
            <a:off x="5532120" y="1234440"/>
            <a:ext cx="6035039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61" name="圆角矩形"/>
          <p:cNvSpPr>
            <a:spLocks/>
          </p:cNvSpPr>
          <p:nvPr/>
        </p:nvSpPr>
        <p:spPr>
          <a:xfrm rot="0">
            <a:off x="5532120" y="1234440"/>
            <a:ext cx="6035039" cy="502919"/>
          </a:xfrm>
          <a:prstGeom prst="roundRect">
            <a:avLst>
              <a:gd name="adj" fmla="val 12000"/>
            </a:avLst>
          </a:prstGeom>
          <a:solidFill>
            <a:srgbClr val="0F2B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62" name="矩形"/>
          <p:cNvSpPr>
            <a:spLocks/>
          </p:cNvSpPr>
          <p:nvPr/>
        </p:nvSpPr>
        <p:spPr>
          <a:xfrm rot="0">
            <a:off x="5806440" y="1353312"/>
            <a:ext cx="5394960" cy="2560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SAMPLE BILL</a:t>
            </a:r>
            <a:endParaRPr lang="zh-CN" altLang="en-US" sz="15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63" name="矩形"/>
          <p:cNvSpPr>
            <a:spLocks/>
          </p:cNvSpPr>
          <p:nvPr/>
        </p:nvSpPr>
        <p:spPr>
          <a:xfrm rot="0">
            <a:off x="5989320" y="2057400"/>
            <a:ext cx="292608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Units used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64" name="矩形"/>
          <p:cNvSpPr>
            <a:spLocks/>
          </p:cNvSpPr>
          <p:nvPr/>
        </p:nvSpPr>
        <p:spPr>
          <a:xfrm rot="0">
            <a:off x="9189720" y="2057400"/>
            <a:ext cx="1920239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18.00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65" name="矩形"/>
          <p:cNvSpPr>
            <a:spLocks/>
          </p:cNvSpPr>
          <p:nvPr/>
        </p:nvSpPr>
        <p:spPr>
          <a:xfrm rot="0">
            <a:off x="5989320" y="2743200"/>
            <a:ext cx="292608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Rate per unit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66" name="矩形"/>
          <p:cNvSpPr>
            <a:spLocks/>
          </p:cNvSpPr>
          <p:nvPr/>
        </p:nvSpPr>
        <p:spPr>
          <a:xfrm rot="0">
            <a:off x="9189720" y="2743200"/>
            <a:ext cx="192023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Rs. 5.00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67" name="矩形"/>
          <p:cNvSpPr>
            <a:spLocks/>
          </p:cNvSpPr>
          <p:nvPr/>
        </p:nvSpPr>
        <p:spPr>
          <a:xfrm rot="0">
            <a:off x="5989320" y="3429000"/>
            <a:ext cx="292608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Fixed charge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68" name="矩形"/>
          <p:cNvSpPr>
            <a:spLocks/>
          </p:cNvSpPr>
          <p:nvPr/>
        </p:nvSpPr>
        <p:spPr>
          <a:xfrm rot="0">
            <a:off x="9189720" y="3429000"/>
            <a:ext cx="192023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Rs. 30.00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69" name="矩形"/>
          <p:cNvSpPr>
            <a:spLocks/>
          </p:cNvSpPr>
          <p:nvPr/>
        </p:nvSpPr>
        <p:spPr>
          <a:xfrm rot="0">
            <a:off x="5852160" y="4069080"/>
            <a:ext cx="5394960" cy="36575"/>
          </a:xfrm>
          <a:prstGeom prst="rect"/>
          <a:solidFill>
            <a:srgbClr val="DBF5F3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70" name="矩形"/>
          <p:cNvSpPr>
            <a:spLocks/>
          </p:cNvSpPr>
          <p:nvPr/>
        </p:nvSpPr>
        <p:spPr>
          <a:xfrm rot="0">
            <a:off x="5989320" y="4343400"/>
            <a:ext cx="283463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TOTAL BILL</a:t>
            </a:r>
            <a:endParaRPr lang="zh-CN" altLang="en-US" sz="18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71" name="矩形"/>
          <p:cNvSpPr>
            <a:spLocks/>
          </p:cNvSpPr>
          <p:nvPr/>
        </p:nvSpPr>
        <p:spPr>
          <a:xfrm rot="0">
            <a:off x="8686800" y="4297680"/>
            <a:ext cx="256032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Rs. 120.00</a:t>
            </a:r>
            <a:endParaRPr lang="zh-CN" altLang="en-US" sz="22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3971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矩形"/>
          <p:cNvSpPr>
            <a:spLocks/>
          </p:cNvSpPr>
          <p:nvPr/>
        </p:nvSpPr>
        <p:spPr>
          <a:xfrm rot="0">
            <a:off x="0" y="0"/>
            <a:ext cx="12191694" cy="128015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73" name="矩形"/>
          <p:cNvSpPr>
            <a:spLocks/>
          </p:cNvSpPr>
          <p:nvPr/>
        </p:nvSpPr>
        <p:spPr>
          <a:xfrm rot="0">
            <a:off x="0" y="6711696"/>
            <a:ext cx="12191694" cy="146303"/>
          </a:xfrm>
          <a:prstGeom prst="rect"/>
          <a:solidFill>
            <a:srgbClr val="0F2B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74" name="矩形"/>
          <p:cNvSpPr>
            <a:spLocks/>
          </p:cNvSpPr>
          <p:nvPr/>
        </p:nvSpPr>
        <p:spPr>
          <a:xfrm rot="0">
            <a:off x="502919" y="320040"/>
            <a:ext cx="1078992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Geo-tagged Photo &amp; GitHub Link</a:t>
            </a:r>
            <a:endParaRPr lang="zh-CN" altLang="en-US" sz="27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75" name="矩形"/>
          <p:cNvSpPr>
            <a:spLocks/>
          </p:cNvSpPr>
          <p:nvPr/>
        </p:nvSpPr>
        <p:spPr>
          <a:xfrm rot="0">
            <a:off x="530352" y="932688"/>
            <a:ext cx="685800" cy="50292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76" name="圆角矩形"/>
          <p:cNvSpPr>
            <a:spLocks/>
          </p:cNvSpPr>
          <p:nvPr/>
        </p:nvSpPr>
        <p:spPr>
          <a:xfrm rot="0">
            <a:off x="10332720" y="347472"/>
            <a:ext cx="1325880" cy="320040"/>
          </a:xfrm>
          <a:prstGeom prst="roundRect">
            <a:avLst>
              <a:gd name="adj" fmla="val 12000"/>
            </a:avLst>
          </a:prstGeom>
          <a:solidFill>
            <a:srgbClr val="DBF5F3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77" name="矩形"/>
          <p:cNvSpPr>
            <a:spLocks/>
          </p:cNvSpPr>
          <p:nvPr/>
        </p:nvSpPr>
        <p:spPr>
          <a:xfrm rot="0">
            <a:off x="10369296" y="370332"/>
            <a:ext cx="1261872" cy="2194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PROJECT LINKS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78" name="矩形"/>
          <p:cNvSpPr>
            <a:spLocks/>
          </p:cNvSpPr>
          <p:nvPr/>
        </p:nvSpPr>
        <p:spPr>
          <a:xfrm rot="0">
            <a:off x="548640" y="6419087"/>
            <a:ext cx="6400800" cy="1828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677A88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HOUSEHOLD WATER USAGE  •  JAVA PROJECT</a:t>
            </a:r>
            <a:endParaRPr lang="zh-CN" altLang="en-US" sz="800" b="0" i="0" u="none" strike="noStrike" kern="1200" cap="none" spc="0" baseline="0">
              <a:solidFill>
                <a:srgbClr val="677A88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79" name="矩形"/>
          <p:cNvSpPr>
            <a:spLocks/>
          </p:cNvSpPr>
          <p:nvPr/>
        </p:nvSpPr>
        <p:spPr>
          <a:xfrm rot="0">
            <a:off x="11201399" y="6391656"/>
            <a:ext cx="41148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9196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12</a:t>
            </a:r>
            <a:endParaRPr lang="zh-CN" altLang="en-US" sz="1000" b="0" i="0" u="none" strike="noStrike" kern="1200" cap="none" spc="0" baseline="0">
              <a:solidFill>
                <a:srgbClr val="009196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80" name="圆角矩形"/>
          <p:cNvSpPr>
            <a:spLocks/>
          </p:cNvSpPr>
          <p:nvPr/>
        </p:nvSpPr>
        <p:spPr>
          <a:xfrm rot="0">
            <a:off x="594360" y="1325880"/>
            <a:ext cx="5394960" cy="35661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1" name="矩形"/>
          <p:cNvSpPr>
            <a:spLocks/>
          </p:cNvSpPr>
          <p:nvPr/>
        </p:nvSpPr>
        <p:spPr>
          <a:xfrm rot="0">
            <a:off x="594360" y="1325880"/>
            <a:ext cx="82296" cy="3566159"/>
          </a:xfrm>
          <a:prstGeom prst="rect"/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2" name="矩形"/>
          <p:cNvSpPr>
            <a:spLocks/>
          </p:cNvSpPr>
          <p:nvPr/>
        </p:nvSpPr>
        <p:spPr>
          <a:xfrm rot="0">
            <a:off x="804672" y="1481328"/>
            <a:ext cx="5010912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Geo-tagged project photo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83" name="矩形"/>
          <p:cNvSpPr>
            <a:spLocks/>
          </p:cNvSpPr>
          <p:nvPr/>
        </p:nvSpPr>
        <p:spPr>
          <a:xfrm rot="0">
            <a:off x="804672" y="1892806"/>
            <a:ext cx="5010912" cy="290779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Insert your project geo-tagged photo here.</a:t>
            </a:r>
            <a:endParaRPr lang="en-US" altLang="zh-CN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endParaRPr lang="en-US" altLang="zh-CN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Keep the image centered and clear, with enough space around it.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84" name="圆角矩形"/>
          <p:cNvSpPr>
            <a:spLocks/>
          </p:cNvSpPr>
          <p:nvPr/>
        </p:nvSpPr>
        <p:spPr>
          <a:xfrm rot="0">
            <a:off x="2057400" y="3063239"/>
            <a:ext cx="2468879" cy="1051559"/>
          </a:xfrm>
          <a:prstGeom prst="roundRect">
            <a:avLst>
              <a:gd name="adj" fmla="val 12000"/>
            </a:avLst>
          </a:prstGeom>
          <a:solidFill>
            <a:srgbClr val="DBF5F3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5" name="椭圆"/>
          <p:cNvSpPr>
            <a:spLocks/>
          </p:cNvSpPr>
          <p:nvPr/>
        </p:nvSpPr>
        <p:spPr>
          <a:xfrm rot="0">
            <a:off x="2331720" y="3246120"/>
            <a:ext cx="292608" cy="292607"/>
          </a:xfrm>
          <a:prstGeom prst="ellipse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6" name="等腰三角形"/>
          <p:cNvSpPr>
            <a:spLocks/>
          </p:cNvSpPr>
          <p:nvPr/>
        </p:nvSpPr>
        <p:spPr>
          <a:xfrm rot="0">
            <a:off x="2514600" y="3364992"/>
            <a:ext cx="1463040" cy="566928"/>
          </a:xfrm>
          <a:prstGeom prst="triangle">
            <a:avLst>
              <a:gd name="adj" fmla="val 50000"/>
            </a:avLst>
          </a:prstGeom>
          <a:solidFill>
            <a:srgbClr val="009196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7" name="圆角矩形"/>
          <p:cNvSpPr>
            <a:spLocks/>
          </p:cNvSpPr>
          <p:nvPr/>
        </p:nvSpPr>
        <p:spPr>
          <a:xfrm rot="0">
            <a:off x="6172200" y="1325880"/>
            <a:ext cx="5394959" cy="35661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8" name="矩形"/>
          <p:cNvSpPr>
            <a:spLocks/>
          </p:cNvSpPr>
          <p:nvPr/>
        </p:nvSpPr>
        <p:spPr>
          <a:xfrm rot="0">
            <a:off x="6172200" y="1325880"/>
            <a:ext cx="82296" cy="3566159"/>
          </a:xfrm>
          <a:prstGeom prst="rect"/>
          <a:solidFill>
            <a:srgbClr val="F2B74A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9" name="矩形"/>
          <p:cNvSpPr>
            <a:spLocks/>
          </p:cNvSpPr>
          <p:nvPr/>
        </p:nvSpPr>
        <p:spPr>
          <a:xfrm rot="0">
            <a:off x="6382512" y="1481328"/>
            <a:ext cx="5010912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F2B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GitHub repository</a:t>
            </a:r>
            <a:endParaRPr lang="zh-CN" altLang="en-US" sz="1600" b="0" i="0" u="none" strike="noStrike" kern="1200" cap="none" spc="0" baseline="0">
              <a:solidFill>
                <a:srgbClr val="0F2B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90" name="矩形"/>
          <p:cNvSpPr>
            <a:spLocks/>
          </p:cNvSpPr>
          <p:nvPr/>
        </p:nvSpPr>
        <p:spPr>
          <a:xfrm rot="0">
            <a:off x="6382512" y="1892806"/>
            <a:ext cx="5010912" cy="290779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54864" tIns="54864" rIns="54864" bIns="54864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Paste your project repository link here.</a:t>
            </a:r>
            <a:endParaRPr lang="en-US" altLang="zh-CN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endParaRPr lang="en-US" altLang="zh-CN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5364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Suggested label: “View source code on GitHub”</a:t>
            </a:r>
            <a:endParaRPr lang="zh-CN" altLang="en-US" sz="1600" b="0" i="0" u="none" strike="noStrike" kern="1200" cap="none" spc="0" baseline="0">
              <a:solidFill>
                <a:srgbClr val="25364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91" name="圆角矩形"/>
          <p:cNvSpPr>
            <a:spLocks/>
          </p:cNvSpPr>
          <p:nvPr/>
        </p:nvSpPr>
        <p:spPr>
          <a:xfrm rot="0">
            <a:off x="6812280" y="3154680"/>
            <a:ext cx="4114799" cy="731520"/>
          </a:xfrm>
          <a:prstGeom prst="roundRect">
            <a:avLst>
              <a:gd name="adj" fmla="val 12000"/>
            </a:avLst>
          </a:prstGeom>
          <a:solidFill>
            <a:srgbClr val="0F2B44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92" name="矩形"/>
          <p:cNvSpPr>
            <a:spLocks/>
          </p:cNvSpPr>
          <p:nvPr/>
        </p:nvSpPr>
        <p:spPr>
          <a:xfrm rot="0">
            <a:off x="6949440" y="3364992"/>
            <a:ext cx="384048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GITHUB REPOSITORY LINK</a:t>
            </a:r>
            <a:endParaRPr lang="zh-CN" altLang="en-US" sz="14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127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description>generated using python-pptx</dc:description>
  <cp:lastModifiedBy>root</cp:lastModifiedBy>
  <cp:revision>1</cp:revision>
  <dcterms:created xsi:type="dcterms:W3CDTF">2013-01-27T09:14:16Z</dcterms:created>
  <dcterms:modified xsi:type="dcterms:W3CDTF">2026-10-15T20:56:20Z</dcterms:modified>
</cp:coreProperties>
</file>